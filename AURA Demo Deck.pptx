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1"/>
  </p:notesMasterIdLst>
  <p:sldIdLst>
    <p:sldId id="256" r:id="rId6"/>
    <p:sldId id="257" r:id="rId7"/>
    <p:sldId id="258" r:id="rId8"/>
    <p:sldId id="259" r:id="rId9"/>
    <p:sldId id="260" r:id="rId10"/>
  </p:sldIdLst>
  <p:sldSz cx="18288000" cy="10287000"/>
  <p:notesSz cx="6858000" cy="9144000"/>
  <p:embeddedFontLst>
    <p:embeddedFont>
      <p:font typeface="JetBrains Mono" charset="1" panose="02010509020102050004"/>
      <p:regular r:id="rId14"/>
    </p:embeddedFont>
    <p:embeddedFont>
      <p:font typeface="Arimo Bold" charset="1" panose="020B0704020202020204"/>
      <p:regular r:id="rId15"/>
    </p:embeddedFont>
    <p:embeddedFont>
      <p:font typeface="Arimo" charset="1" panose="020B0604020202020204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notesMasters/notesMaster1.xml" Type="http://schemas.openxmlformats.org/officeDocument/2006/relationships/notesMaster"/><Relationship Id="rId12" Target="theme/theme2.xml" Type="http://schemas.openxmlformats.org/officeDocument/2006/relationships/theme"/><Relationship Id="rId13" Target="notesSlides/notesSlide1.xml" Type="http://schemas.openxmlformats.org/officeDocument/2006/relationships/notesSlide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notesSlides/notesSlide2.xml" Type="http://schemas.openxmlformats.org/officeDocument/2006/relationships/notesSlide"/><Relationship Id="rId18" Target="notesSlides/notesSlide3.xml" Type="http://schemas.openxmlformats.org/officeDocument/2006/relationships/notesSlide"/><Relationship Id="rId19" Target="notesSlides/notesSlide4.xml" Type="http://schemas.openxmlformats.org/officeDocument/2006/relationships/notesSlide"/><Relationship Id="rId2" Target="presProps.xml" Type="http://schemas.openxmlformats.org/officeDocument/2006/relationships/presProps"/><Relationship Id="rId20" Target="notesSlides/notesSlide5.xml" Type="http://schemas.openxmlformats.org/officeDocument/2006/relationships/notesSlide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This room is watching itself right now — the demo you'll see is AURA monitoring this very presentation. One deck, four devices, four input modalities, one companion.</a:t>
            </a:r>
          </a:p>
          <a:p>
            <a:r>
              <a:rPr lang="en-US"/>
              <a:t>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The failure isn't attention — that's human. The failure is that nobody closes the loop in real time, and nothing aggregates what the group is silently telling you. Unproductive meetings cost tens of billions a year; the disease is feedback latency.</a:t>
            </a:r>
          </a:p>
          <a:p>
            <a:r>
              <a:rPr lang="en-US"/>
              <a:t>2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Note what never crosses the network: pixels. Perception is local CPU; the GPU sees only ~3 KB of fused state per agent call. That's the privacy story and the latency story at once. PPT-B is the elegant part — the meeting's output is an enriched version of its own input document.</a:t>
            </a:r>
          </a:p>
          <a:p>
            <a:r>
              <a:rPr lang="en-US"/>
              <a:t>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Right-sizing is a result, not an accident: token-budgeted fusion means one mid-size LLM serves the whole room, and the 192 GB GPU is roadmap headroom, not a requirement. Pipeline numbers are measured today against a mock backend; LLM inference on the MI300X adds roughly half a second to a second and a half.</a:t>
            </a:r>
          </a:p>
          <a:p>
            <a:r>
              <a:rPr lang="en-US"/>
              <a:t>4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Everything you saw ran on one AMD GPU against this very deck — the demo is the product. Watch for: a staged collapse and on-camera recovery, questions surfaced exactly at the pause, a calm slide where nothing fires, and the debrief naming this very architecture slide as the weakest.</a:t>
            </a:r>
          </a:p>
          <a:p>
            <a:r>
              <a:rPr lang="en-US"/>
              <a:t>5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54103" y="825503"/>
            <a:ext cx="4540729" cy="2921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spc="324">
                <a:solidFill>
                  <a:srgbClr val="6B6B7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AGENTIC MEETING COMPANION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617373" y="825503"/>
            <a:ext cx="7846543" cy="2921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spc="324">
                <a:solidFill>
                  <a:srgbClr val="6B6B7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HACKATHON SUBMISSION · TRACK 2 — MULTIMODAL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54103" y="2914355"/>
            <a:ext cx="4278297" cy="15329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235"/>
              </a:lnSpc>
            </a:pPr>
            <a:r>
              <a:rPr lang="en-US" b="true" sz="13800" spc="-552">
                <a:solidFill>
                  <a:srgbClr val="141416"/>
                </a:solidFill>
                <a:latin typeface="Arimo Bold"/>
                <a:ea typeface="Arimo Bold"/>
                <a:cs typeface="Arimo Bold"/>
                <a:sym typeface="Arimo Bold"/>
              </a:rPr>
              <a:t>AURA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5460302" y="3863083"/>
            <a:ext cx="247650" cy="247650"/>
            <a:chOff x="0" y="0"/>
            <a:chExt cx="330200" cy="3302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30200" cy="330200"/>
            </a:xfrm>
            <a:custGeom>
              <a:avLst/>
              <a:gdLst/>
              <a:ahLst/>
              <a:cxnLst/>
              <a:rect r="r" b="b" t="t" l="l"/>
              <a:pathLst>
                <a:path h="330200" w="330200">
                  <a:moveTo>
                    <a:pt x="0" y="165100"/>
                  </a:moveTo>
                  <a:cubicBezTo>
                    <a:pt x="0" y="73914"/>
                    <a:pt x="73914" y="0"/>
                    <a:pt x="165100" y="0"/>
                  </a:cubicBezTo>
                  <a:cubicBezTo>
                    <a:pt x="256286" y="0"/>
                    <a:pt x="330200" y="73914"/>
                    <a:pt x="330200" y="165100"/>
                  </a:cubicBezTo>
                  <a:cubicBezTo>
                    <a:pt x="330200" y="256286"/>
                    <a:pt x="256286" y="330200"/>
                    <a:pt x="165100" y="330200"/>
                  </a:cubicBezTo>
                  <a:cubicBezTo>
                    <a:pt x="73914" y="330200"/>
                    <a:pt x="0" y="256286"/>
                    <a:pt x="0" y="165100"/>
                  </a:cubicBezTo>
                  <a:close/>
                </a:path>
              </a:pathLst>
            </a:custGeom>
            <a:solidFill>
              <a:srgbClr val="141416"/>
            </a:solidFill>
          </p:spPr>
        </p:sp>
      </p:grpSp>
      <p:sp>
        <p:nvSpPr>
          <p:cNvPr name="TextBox 7" id="7"/>
          <p:cNvSpPr txBox="true"/>
          <p:nvPr/>
        </p:nvSpPr>
        <p:spPr>
          <a:xfrm rot="0">
            <a:off x="1054103" y="4726686"/>
            <a:ext cx="16666721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spc="-30">
                <a:solidFill>
                  <a:srgbClr val="141416"/>
                </a:solidFill>
                <a:latin typeface="Arimo"/>
                <a:ea typeface="Arimo"/>
                <a:cs typeface="Arimo"/>
                <a:sym typeface="Arimo"/>
              </a:rPr>
              <a:t>Agentic Understanding of Room Attention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54103" y="5348983"/>
            <a:ext cx="11329673" cy="10402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45"/>
              </a:lnSpc>
            </a:pPr>
            <a:r>
              <a:rPr lang="en-US" sz="2550">
                <a:solidFill>
                  <a:srgbClr val="6B6B70"/>
                </a:solidFill>
                <a:latin typeface="Arimo"/>
                <a:ea typeface="Arimo"/>
                <a:cs typeface="Arimo"/>
                <a:sym typeface="Arimo"/>
              </a:rPr>
              <a:t>A multimodal companion that watches what a room </a:t>
            </a:r>
            <a:r>
              <a:rPr lang="en-US" sz="2550">
                <a:solidFill>
                  <a:srgbClr val="141416"/>
                </a:solidFill>
                <a:latin typeface="Arimo"/>
                <a:ea typeface="Arimo"/>
                <a:cs typeface="Arimo"/>
                <a:sym typeface="Arimo"/>
              </a:rPr>
              <a:t>does </a:t>
            </a:r>
            <a:r>
              <a:rPr lang="en-US" sz="2550">
                <a:solidFill>
                  <a:srgbClr val="6B6B70"/>
                </a:solidFill>
                <a:latin typeface="Arimo"/>
                <a:ea typeface="Arimo"/>
                <a:cs typeface="Arimo"/>
                <a:sym typeface="Arimo"/>
              </a:rPr>
              <a:t>— gaze, speech, typing and ink — and tells the team what matters.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028700" y="8093869"/>
            <a:ext cx="16230600" cy="9525"/>
            <a:chOff x="0" y="0"/>
            <a:chExt cx="21640800" cy="127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1640800" cy="12700"/>
            </a:xfrm>
            <a:custGeom>
              <a:avLst/>
              <a:gdLst/>
              <a:ahLst/>
              <a:cxnLst/>
              <a:rect r="r" b="b" t="t" l="l"/>
              <a:pathLst>
                <a:path h="12700" w="21640800">
                  <a:moveTo>
                    <a:pt x="0" y="0"/>
                  </a:moveTo>
                  <a:lnTo>
                    <a:pt x="21640800" y="0"/>
                  </a:lnTo>
                  <a:lnTo>
                    <a:pt x="21640800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6E5E1"/>
            </a:solid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1054103" y="8449466"/>
            <a:ext cx="3804828" cy="2921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spc="252">
                <a:solidFill>
                  <a:srgbClr val="A2A2A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USE CASE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54103" y="8782841"/>
            <a:ext cx="3804828" cy="7167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42"/>
              </a:lnSpc>
            </a:pPr>
            <a:r>
              <a:rPr lang="en-US" sz="1950">
                <a:solidFill>
                  <a:srgbClr val="141416"/>
                </a:solidFill>
                <a:latin typeface="Arimo"/>
                <a:ea typeface="Arimo"/>
                <a:cs typeface="Arimo"/>
                <a:sym typeface="Arimo"/>
              </a:rPr>
              <a:t>Co-located collaborative sessions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5216528" y="8449466"/>
            <a:ext cx="3804828" cy="2921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spc="252">
                <a:solidFill>
                  <a:srgbClr val="A2A2A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INPUTS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5216528" y="8782841"/>
            <a:ext cx="3804828" cy="3948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42"/>
              </a:lnSpc>
            </a:pPr>
            <a:r>
              <a:rPr lang="en-US" sz="1950">
                <a:solidFill>
                  <a:srgbClr val="141416"/>
                </a:solidFill>
                <a:latin typeface="Arimo"/>
                <a:ea typeface="Arimo"/>
                <a:cs typeface="Arimo"/>
                <a:sym typeface="Arimo"/>
              </a:rPr>
              <a:t>Camera · Mic · Laptops · Tablet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378953" y="8449466"/>
            <a:ext cx="3804828" cy="2921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spc="252">
                <a:solidFill>
                  <a:srgbClr val="A2A2A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OUTPUTS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378953" y="8782841"/>
            <a:ext cx="3804828" cy="7167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42"/>
              </a:lnSpc>
            </a:pPr>
            <a:r>
              <a:rPr lang="en-US" sz="1950">
                <a:solidFill>
                  <a:srgbClr val="141416"/>
                </a:solidFill>
                <a:latin typeface="Arimo"/>
                <a:ea typeface="Arimo"/>
                <a:cs typeface="Arimo"/>
                <a:sym typeface="Arimo"/>
              </a:rPr>
              <a:t>Presenter HUD + enriched deck (PPT-B)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3541378" y="8449466"/>
            <a:ext cx="3804828" cy="2921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spc="252">
                <a:solidFill>
                  <a:srgbClr val="A2A2A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TEAM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3541378" y="8782841"/>
            <a:ext cx="3804828" cy="3948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42"/>
              </a:lnSpc>
            </a:pPr>
            <a:r>
              <a:rPr lang="en-US" sz="1950">
                <a:solidFill>
                  <a:srgbClr val="141416"/>
                </a:solidFill>
                <a:latin typeface="Arimo"/>
                <a:ea typeface="Arimo"/>
                <a:cs typeface="Arimo"/>
                <a:sym typeface="Arimo"/>
              </a:rPr>
              <a:t>Team AURA · {team name}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904875"/>
            <a:ext cx="95250" cy="95250"/>
            <a:chOff x="0" y="0"/>
            <a:chExt cx="127000" cy="127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7000" cy="127000"/>
            </a:xfrm>
            <a:custGeom>
              <a:avLst/>
              <a:gdLst/>
              <a:ahLst/>
              <a:cxnLst/>
              <a:rect r="r" b="b" t="t" l="l"/>
              <a:pathLst>
                <a:path h="127000" w="127000">
                  <a:moveTo>
                    <a:pt x="0" y="63500"/>
                  </a:moveTo>
                  <a:cubicBezTo>
                    <a:pt x="0" y="28448"/>
                    <a:pt x="28448" y="0"/>
                    <a:pt x="63500" y="0"/>
                  </a:cubicBezTo>
                  <a:cubicBezTo>
                    <a:pt x="98552" y="0"/>
                    <a:pt x="127000" y="28448"/>
                    <a:pt x="127000" y="63500"/>
                  </a:cubicBezTo>
                  <a:cubicBezTo>
                    <a:pt x="127000" y="98552"/>
                    <a:pt x="98552" y="127000"/>
                    <a:pt x="63500" y="127000"/>
                  </a:cubicBezTo>
                  <a:cubicBezTo>
                    <a:pt x="28448" y="127000"/>
                    <a:pt x="0" y="98552"/>
                    <a:pt x="0" y="63500"/>
                  </a:cubicBezTo>
                  <a:close/>
                </a:path>
              </a:pathLst>
            </a:custGeom>
            <a:solidFill>
              <a:srgbClr val="141416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1282703" y="825503"/>
            <a:ext cx="3151489" cy="2921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spc="359">
                <a:solidFill>
                  <a:srgbClr val="6B6B7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PROBLEM &amp; CONTEXT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54103" y="1320803"/>
            <a:ext cx="16666721" cy="7576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39"/>
              </a:lnSpc>
            </a:pPr>
            <a:r>
              <a:rPr lang="en-US" b="true" sz="5400" spc="-108">
                <a:solidFill>
                  <a:srgbClr val="141416"/>
                </a:solidFill>
                <a:latin typeface="Arimo Bold"/>
                <a:ea typeface="Arimo Bold"/>
                <a:cs typeface="Arimo Bold"/>
                <a:sym typeface="Arimo Bold"/>
              </a:rPr>
              <a:t>Feedback arrives weeks too late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54103" y="3687166"/>
            <a:ext cx="14665328" cy="10402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45"/>
              </a:lnSpc>
            </a:pPr>
            <a:r>
              <a:rPr lang="en-US" sz="2550">
                <a:solidFill>
                  <a:srgbClr val="6B6B70"/>
                </a:solidFill>
                <a:latin typeface="Arimo"/>
                <a:ea typeface="Arimo"/>
                <a:cs typeface="Arimo"/>
                <a:sym typeface="Arimo"/>
              </a:rPr>
              <a:t>No tool today lets a room full of people work on one document while a companion watches every input — </a:t>
            </a:r>
            <a:r>
              <a:rPr lang="en-US" sz="2550">
                <a:solidFill>
                  <a:srgbClr val="141416"/>
                </a:solidFill>
                <a:latin typeface="Arimo"/>
                <a:ea typeface="Arimo"/>
                <a:cs typeface="Arimo"/>
                <a:sym typeface="Arimo"/>
              </a:rPr>
              <a:t>attention, speech, typing and ink </a:t>
            </a:r>
            <a:r>
              <a:rPr lang="en-US" sz="2550">
                <a:solidFill>
                  <a:srgbClr val="6B6B70"/>
                </a:solidFill>
                <a:latin typeface="Arimo"/>
                <a:ea typeface="Arimo"/>
                <a:cs typeface="Arimo"/>
                <a:sym typeface="Arimo"/>
              </a:rPr>
              <a:t>— and tells the team what is important.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028700" y="5248075"/>
            <a:ext cx="16230600" cy="9525"/>
            <a:chOff x="0" y="0"/>
            <a:chExt cx="21640800" cy="127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640800" cy="12700"/>
            </a:xfrm>
            <a:custGeom>
              <a:avLst/>
              <a:gdLst/>
              <a:ahLst/>
              <a:cxnLst/>
              <a:rect r="r" b="b" t="t" l="l"/>
              <a:pathLst>
                <a:path h="12700" w="21640800">
                  <a:moveTo>
                    <a:pt x="0" y="0"/>
                  </a:moveTo>
                  <a:lnTo>
                    <a:pt x="21640800" y="0"/>
                  </a:lnTo>
                  <a:lnTo>
                    <a:pt x="21640800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6E5E1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6432547" y="5254428"/>
            <a:ext cx="9525" cy="1658541"/>
            <a:chOff x="0" y="0"/>
            <a:chExt cx="12700" cy="221138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2700" cy="2211451"/>
            </a:xfrm>
            <a:custGeom>
              <a:avLst/>
              <a:gdLst/>
              <a:ahLst/>
              <a:cxnLst/>
              <a:rect r="r" b="b" t="t" l="l"/>
              <a:pathLst>
                <a:path h="2211451" w="12700">
                  <a:moveTo>
                    <a:pt x="0" y="0"/>
                  </a:moveTo>
                  <a:lnTo>
                    <a:pt x="12700" y="0"/>
                  </a:lnTo>
                  <a:lnTo>
                    <a:pt x="12700" y="2211451"/>
                  </a:lnTo>
                  <a:lnTo>
                    <a:pt x="0" y="2211451"/>
                  </a:lnTo>
                  <a:close/>
                </a:path>
              </a:pathLst>
            </a:custGeom>
            <a:solidFill>
              <a:srgbClr val="E6E5E1"/>
            </a:solid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1054103" y="5584631"/>
            <a:ext cx="5083492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141416"/>
                </a:solidFill>
                <a:latin typeface="Arimo Bold"/>
                <a:ea typeface="Arimo Bold"/>
                <a:cs typeface="Arimo Bold"/>
                <a:sym typeface="Arimo Bold"/>
              </a:rPr>
              <a:t>Presenters fly blind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54103" y="6140253"/>
            <a:ext cx="5083492" cy="7854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76"/>
              </a:lnSpc>
            </a:pPr>
            <a:r>
              <a:rPr lang="en-US" sz="1950">
                <a:solidFill>
                  <a:srgbClr val="6B6B70"/>
                </a:solidFill>
                <a:latin typeface="Arimo"/>
                <a:ea typeface="Arimo"/>
                <a:cs typeface="Arimo"/>
                <a:sym typeface="Arimo"/>
              </a:rPr>
              <a:t>They learn they lost the room weeks later, through surveys.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11842747" y="5254428"/>
            <a:ext cx="9525" cy="1658541"/>
            <a:chOff x="0" y="0"/>
            <a:chExt cx="12700" cy="2211388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2700" cy="2211451"/>
            </a:xfrm>
            <a:custGeom>
              <a:avLst/>
              <a:gdLst/>
              <a:ahLst/>
              <a:cxnLst/>
              <a:rect r="r" b="b" t="t" l="l"/>
              <a:pathLst>
                <a:path h="2211451" w="12700">
                  <a:moveTo>
                    <a:pt x="0" y="0"/>
                  </a:moveTo>
                  <a:lnTo>
                    <a:pt x="12700" y="0"/>
                  </a:lnTo>
                  <a:lnTo>
                    <a:pt x="12700" y="2211451"/>
                  </a:lnTo>
                  <a:lnTo>
                    <a:pt x="0" y="2211451"/>
                  </a:lnTo>
                  <a:close/>
                </a:path>
              </a:pathLst>
            </a:custGeom>
            <a:solidFill>
              <a:srgbClr val="E6E5E1"/>
            </a:solid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6883403" y="5584631"/>
            <a:ext cx="4651820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141416"/>
                </a:solidFill>
                <a:latin typeface="Arimo Bold"/>
                <a:ea typeface="Arimo Bold"/>
                <a:cs typeface="Arimo Bold"/>
                <a:sym typeface="Arimo Bold"/>
              </a:rPr>
              <a:t>Inputs are perishable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6883403" y="6140253"/>
            <a:ext cx="4651820" cy="7854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76"/>
              </a:lnSpc>
            </a:pPr>
            <a:r>
              <a:rPr lang="en-US" sz="1950">
                <a:solidFill>
                  <a:srgbClr val="6B6B70"/>
                </a:solidFill>
                <a:latin typeface="Arimo"/>
                <a:ea typeface="Arimo"/>
                <a:cs typeface="Arimo"/>
                <a:sym typeface="Arimo"/>
              </a:rPr>
              <a:t>Typed questions and annotations vanish when the meeting ends.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2293603" y="5584631"/>
            <a:ext cx="5090036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141416"/>
                </a:solidFill>
                <a:latin typeface="Arimo Bold"/>
                <a:ea typeface="Arimo Bold"/>
                <a:cs typeface="Arimo Bold"/>
                <a:sym typeface="Arimo Bold"/>
              </a:rPr>
              <a:t>Convergence needs talk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2293603" y="6140253"/>
            <a:ext cx="5090036" cy="7854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76"/>
              </a:lnSpc>
            </a:pPr>
            <a:r>
              <a:rPr lang="en-US" sz="1950">
                <a:solidFill>
                  <a:srgbClr val="6B6B70"/>
                </a:solidFill>
                <a:latin typeface="Arimo"/>
                <a:ea typeface="Arimo"/>
                <a:cs typeface="Arimo"/>
                <a:sym typeface="Arimo"/>
              </a:rPr>
              <a:t>And most people can't talk and listen at the same time.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1028700" y="8642347"/>
            <a:ext cx="16230600" cy="9525"/>
            <a:chOff x="0" y="0"/>
            <a:chExt cx="21640800" cy="127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1640800" cy="12700"/>
            </a:xfrm>
            <a:custGeom>
              <a:avLst/>
              <a:gdLst/>
              <a:ahLst/>
              <a:cxnLst/>
              <a:rect r="r" b="b" t="t" l="l"/>
              <a:pathLst>
                <a:path h="12700" w="21640800">
                  <a:moveTo>
                    <a:pt x="0" y="0"/>
                  </a:moveTo>
                  <a:lnTo>
                    <a:pt x="21640800" y="0"/>
                  </a:lnTo>
                  <a:lnTo>
                    <a:pt x="21640800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6E5E1"/>
            </a:solidFill>
          </p:spPr>
        </p:sp>
      </p:grpSp>
      <p:sp>
        <p:nvSpPr>
          <p:cNvPr name="TextBox 21" id="21"/>
          <p:cNvSpPr txBox="true"/>
          <p:nvPr/>
        </p:nvSpPr>
        <p:spPr>
          <a:xfrm rot="0">
            <a:off x="1054103" y="8902703"/>
            <a:ext cx="15621876" cy="5969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spc="107">
                <a:solidFill>
                  <a:srgbClr val="A2A2A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Stakeholders — Presenters &amp; facilitators · Enterprise L&amp;D · Design-review &amp; workshop teams · Hybrid teams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6270291" y="8902703"/>
            <a:ext cx="1039816" cy="5969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spc="107">
                <a:solidFill>
                  <a:srgbClr val="A2A2A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02 / 05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904875"/>
            <a:ext cx="95250" cy="95250"/>
            <a:chOff x="0" y="0"/>
            <a:chExt cx="127000" cy="127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7000" cy="127000"/>
            </a:xfrm>
            <a:custGeom>
              <a:avLst/>
              <a:gdLst/>
              <a:ahLst/>
              <a:cxnLst/>
              <a:rect r="r" b="b" t="t" l="l"/>
              <a:pathLst>
                <a:path h="127000" w="127000">
                  <a:moveTo>
                    <a:pt x="0" y="63500"/>
                  </a:moveTo>
                  <a:cubicBezTo>
                    <a:pt x="0" y="28448"/>
                    <a:pt x="28448" y="0"/>
                    <a:pt x="63500" y="0"/>
                  </a:cubicBezTo>
                  <a:cubicBezTo>
                    <a:pt x="98552" y="0"/>
                    <a:pt x="127000" y="28448"/>
                    <a:pt x="127000" y="63500"/>
                  </a:cubicBezTo>
                  <a:cubicBezTo>
                    <a:pt x="127000" y="98552"/>
                    <a:pt x="98552" y="127000"/>
                    <a:pt x="63500" y="127000"/>
                  </a:cubicBezTo>
                  <a:cubicBezTo>
                    <a:pt x="28448" y="127000"/>
                    <a:pt x="0" y="98552"/>
                    <a:pt x="0" y="63500"/>
                  </a:cubicBezTo>
                  <a:close/>
                </a:path>
              </a:pathLst>
            </a:custGeom>
            <a:solidFill>
              <a:srgbClr val="141416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1282703" y="825503"/>
            <a:ext cx="3151489" cy="2921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spc="359">
                <a:solidFill>
                  <a:srgbClr val="6B6B7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SOLUTION OVERVIEW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54103" y="1282703"/>
            <a:ext cx="12475997" cy="7576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39"/>
              </a:lnSpc>
            </a:pPr>
            <a:r>
              <a:rPr lang="en-US" b="true" sz="5400" spc="-108">
                <a:solidFill>
                  <a:srgbClr val="141416"/>
                </a:solidFill>
                <a:latin typeface="Arimo Bold"/>
                <a:ea typeface="Arimo Bold"/>
                <a:cs typeface="Arimo Bold"/>
                <a:sym typeface="Arimo Bold"/>
              </a:rPr>
              <a:t>One deck, four modalities, four agents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3215899" y="1262463"/>
            <a:ext cx="4018007" cy="7778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240"/>
              </a:lnSpc>
            </a:pPr>
            <a:r>
              <a:rPr lang="en-US" sz="1800" spc="72">
                <a:solidFill>
                  <a:srgbClr val="A2A2A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No pixels leave the device. Perception is local CPU.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54103" y="2491188"/>
            <a:ext cx="2327672" cy="2921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spc="215">
                <a:solidFill>
                  <a:srgbClr val="A2A2A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DISPATCH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025528" y="2900763"/>
            <a:ext cx="2308622" cy="1504950"/>
            <a:chOff x="0" y="0"/>
            <a:chExt cx="3078162" cy="20066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078226" cy="2006600"/>
            </a:xfrm>
            <a:custGeom>
              <a:avLst/>
              <a:gdLst/>
              <a:ahLst/>
              <a:cxnLst/>
              <a:rect r="r" b="b" t="t" l="l"/>
              <a:pathLst>
                <a:path h="2006600" w="3078226">
                  <a:moveTo>
                    <a:pt x="0" y="204089"/>
                  </a:moveTo>
                  <a:cubicBezTo>
                    <a:pt x="0" y="91313"/>
                    <a:pt x="91313" y="0"/>
                    <a:pt x="204089" y="0"/>
                  </a:cubicBezTo>
                  <a:lnTo>
                    <a:pt x="2874137" y="0"/>
                  </a:lnTo>
                  <a:cubicBezTo>
                    <a:pt x="2986786" y="0"/>
                    <a:pt x="3078226" y="91313"/>
                    <a:pt x="3078226" y="204089"/>
                  </a:cubicBezTo>
                  <a:lnTo>
                    <a:pt x="3078226" y="1802511"/>
                  </a:lnTo>
                  <a:cubicBezTo>
                    <a:pt x="3078226" y="1915160"/>
                    <a:pt x="2986913" y="2006600"/>
                    <a:pt x="2874137" y="2006600"/>
                  </a:cubicBezTo>
                  <a:lnTo>
                    <a:pt x="204089" y="2006600"/>
                  </a:lnTo>
                  <a:cubicBezTo>
                    <a:pt x="91313" y="2006600"/>
                    <a:pt x="0" y="1915287"/>
                    <a:pt x="0" y="1802511"/>
                  </a:cubicBezTo>
                  <a:close/>
                </a:path>
              </a:pathLst>
            </a:custGeom>
            <a:solidFill>
              <a:srgbClr val="F7F7F5"/>
            </a:solidFill>
            <a:ln w="6350" cap="sq">
              <a:solidFill>
                <a:srgbClr val="E6E5E1"/>
              </a:solidFill>
              <a:prstDash val="solid"/>
              <a:miter/>
            </a:ln>
          </p:spPr>
        </p:sp>
      </p:grpSp>
      <p:sp>
        <p:nvSpPr>
          <p:cNvPr name="TextBox 10" id="10"/>
          <p:cNvSpPr txBox="true"/>
          <p:nvPr/>
        </p:nvSpPr>
        <p:spPr>
          <a:xfrm rot="0">
            <a:off x="1269997" y="3126181"/>
            <a:ext cx="1895875" cy="3683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 b="true">
                <a:solidFill>
                  <a:srgbClr val="141416"/>
                </a:solidFill>
                <a:latin typeface="Arimo Bold"/>
                <a:ea typeface="Arimo Bold"/>
                <a:cs typeface="Arimo Bold"/>
                <a:sym typeface="Arimo Bold"/>
              </a:rPr>
              <a:t>PPT-A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269997" y="3545281"/>
            <a:ext cx="1895875" cy="6540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>
                <a:solidFill>
                  <a:srgbClr val="6B6B70"/>
                </a:solidFill>
                <a:latin typeface="Arimo"/>
                <a:ea typeface="Arimo"/>
                <a:cs typeface="Arimo"/>
                <a:sym typeface="Arimo"/>
              </a:rPr>
              <a:t>One deck, dispatched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1025528" y="4532709"/>
            <a:ext cx="510483" cy="590550"/>
            <a:chOff x="0" y="0"/>
            <a:chExt cx="680644" cy="7874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80720" cy="787400"/>
            </a:xfrm>
            <a:custGeom>
              <a:avLst/>
              <a:gdLst/>
              <a:ahLst/>
              <a:cxnLst/>
              <a:rect r="r" b="b" t="t" l="l"/>
              <a:pathLst>
                <a:path h="787400" w="680720">
                  <a:moveTo>
                    <a:pt x="0" y="141478"/>
                  </a:moveTo>
                  <a:cubicBezTo>
                    <a:pt x="0" y="63373"/>
                    <a:pt x="63373" y="0"/>
                    <a:pt x="141478" y="0"/>
                  </a:cubicBezTo>
                  <a:lnTo>
                    <a:pt x="539242" y="0"/>
                  </a:lnTo>
                  <a:cubicBezTo>
                    <a:pt x="617347" y="0"/>
                    <a:pt x="680720" y="63373"/>
                    <a:pt x="680720" y="141478"/>
                  </a:cubicBezTo>
                  <a:lnTo>
                    <a:pt x="680720" y="645922"/>
                  </a:lnTo>
                  <a:cubicBezTo>
                    <a:pt x="680593" y="724027"/>
                    <a:pt x="617347" y="787400"/>
                    <a:pt x="539242" y="787400"/>
                  </a:cubicBezTo>
                  <a:lnTo>
                    <a:pt x="141478" y="787400"/>
                  </a:lnTo>
                  <a:cubicBezTo>
                    <a:pt x="63373" y="787400"/>
                    <a:pt x="0" y="724027"/>
                    <a:pt x="0" y="645922"/>
                  </a:cubicBezTo>
                  <a:close/>
                </a:path>
              </a:pathLst>
            </a:custGeom>
            <a:solidFill>
              <a:srgbClr val="FBFBFA"/>
            </a:solidFill>
            <a:ln w="6350" cap="sq">
              <a:solidFill>
                <a:srgbClr val="E6E5E1"/>
              </a:solidFill>
              <a:prstDash val="solid"/>
              <a:miter/>
            </a:ln>
          </p:spPr>
        </p:sp>
      </p:grpSp>
      <p:sp>
        <p:nvSpPr>
          <p:cNvPr name="TextBox 14" id="14"/>
          <p:cNvSpPr txBox="true"/>
          <p:nvPr/>
        </p:nvSpPr>
        <p:spPr>
          <a:xfrm rot="0">
            <a:off x="1022347" y="4700988"/>
            <a:ext cx="516826" cy="2921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>
                <a:solidFill>
                  <a:srgbClr val="6B6B7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L1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1624908" y="4532709"/>
            <a:ext cx="510483" cy="590550"/>
            <a:chOff x="0" y="0"/>
            <a:chExt cx="680644" cy="7874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680720" cy="787400"/>
            </a:xfrm>
            <a:custGeom>
              <a:avLst/>
              <a:gdLst/>
              <a:ahLst/>
              <a:cxnLst/>
              <a:rect r="r" b="b" t="t" l="l"/>
              <a:pathLst>
                <a:path h="787400" w="680720">
                  <a:moveTo>
                    <a:pt x="0" y="141478"/>
                  </a:moveTo>
                  <a:cubicBezTo>
                    <a:pt x="0" y="63373"/>
                    <a:pt x="63373" y="0"/>
                    <a:pt x="141478" y="0"/>
                  </a:cubicBezTo>
                  <a:lnTo>
                    <a:pt x="539242" y="0"/>
                  </a:lnTo>
                  <a:cubicBezTo>
                    <a:pt x="617347" y="0"/>
                    <a:pt x="680720" y="63373"/>
                    <a:pt x="680720" y="141478"/>
                  </a:cubicBezTo>
                  <a:lnTo>
                    <a:pt x="680720" y="645922"/>
                  </a:lnTo>
                  <a:cubicBezTo>
                    <a:pt x="680593" y="724027"/>
                    <a:pt x="617347" y="787400"/>
                    <a:pt x="539242" y="787400"/>
                  </a:cubicBezTo>
                  <a:lnTo>
                    <a:pt x="141478" y="787400"/>
                  </a:lnTo>
                  <a:cubicBezTo>
                    <a:pt x="63373" y="787400"/>
                    <a:pt x="0" y="724027"/>
                    <a:pt x="0" y="645922"/>
                  </a:cubicBezTo>
                  <a:close/>
                </a:path>
              </a:pathLst>
            </a:custGeom>
            <a:solidFill>
              <a:srgbClr val="FBFBFA"/>
            </a:solidFill>
            <a:ln w="6350" cap="sq">
              <a:solidFill>
                <a:srgbClr val="E6E5E1"/>
              </a:solidFill>
              <a:prstDash val="solid"/>
              <a:miter/>
            </a:ln>
          </p:spPr>
        </p:sp>
      </p:grpSp>
      <p:sp>
        <p:nvSpPr>
          <p:cNvPr name="TextBox 17" id="17"/>
          <p:cNvSpPr txBox="true"/>
          <p:nvPr/>
        </p:nvSpPr>
        <p:spPr>
          <a:xfrm rot="0">
            <a:off x="1621726" y="4700988"/>
            <a:ext cx="516826" cy="2921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>
                <a:solidFill>
                  <a:srgbClr val="6B6B7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L2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2224288" y="4532709"/>
            <a:ext cx="510483" cy="590550"/>
            <a:chOff x="0" y="0"/>
            <a:chExt cx="680644" cy="7874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680720" cy="787400"/>
            </a:xfrm>
            <a:custGeom>
              <a:avLst/>
              <a:gdLst/>
              <a:ahLst/>
              <a:cxnLst/>
              <a:rect r="r" b="b" t="t" l="l"/>
              <a:pathLst>
                <a:path h="787400" w="680720">
                  <a:moveTo>
                    <a:pt x="0" y="141478"/>
                  </a:moveTo>
                  <a:cubicBezTo>
                    <a:pt x="0" y="63373"/>
                    <a:pt x="63373" y="0"/>
                    <a:pt x="141478" y="0"/>
                  </a:cubicBezTo>
                  <a:lnTo>
                    <a:pt x="539242" y="0"/>
                  </a:lnTo>
                  <a:cubicBezTo>
                    <a:pt x="617347" y="0"/>
                    <a:pt x="680720" y="63373"/>
                    <a:pt x="680720" y="141478"/>
                  </a:cubicBezTo>
                  <a:lnTo>
                    <a:pt x="680720" y="645922"/>
                  </a:lnTo>
                  <a:cubicBezTo>
                    <a:pt x="680593" y="724027"/>
                    <a:pt x="617347" y="787400"/>
                    <a:pt x="539242" y="787400"/>
                  </a:cubicBezTo>
                  <a:lnTo>
                    <a:pt x="141478" y="787400"/>
                  </a:lnTo>
                  <a:cubicBezTo>
                    <a:pt x="63373" y="787400"/>
                    <a:pt x="0" y="724027"/>
                    <a:pt x="0" y="645922"/>
                  </a:cubicBezTo>
                  <a:close/>
                </a:path>
              </a:pathLst>
            </a:custGeom>
            <a:solidFill>
              <a:srgbClr val="FBFBFA"/>
            </a:solidFill>
            <a:ln w="6350" cap="sq">
              <a:solidFill>
                <a:srgbClr val="E6E5E1"/>
              </a:solidFill>
              <a:prstDash val="solid"/>
              <a:miter/>
            </a:ln>
          </p:spPr>
        </p:sp>
      </p:grpSp>
      <p:sp>
        <p:nvSpPr>
          <p:cNvPr name="TextBox 20" id="20"/>
          <p:cNvSpPr txBox="true"/>
          <p:nvPr/>
        </p:nvSpPr>
        <p:spPr>
          <a:xfrm rot="0">
            <a:off x="2221116" y="4700988"/>
            <a:ext cx="516826" cy="2921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>
                <a:solidFill>
                  <a:srgbClr val="6B6B7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L3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2823667" y="4532709"/>
            <a:ext cx="510483" cy="590550"/>
            <a:chOff x="0" y="0"/>
            <a:chExt cx="680644" cy="7874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680720" cy="787400"/>
            </a:xfrm>
            <a:custGeom>
              <a:avLst/>
              <a:gdLst/>
              <a:ahLst/>
              <a:cxnLst/>
              <a:rect r="r" b="b" t="t" l="l"/>
              <a:pathLst>
                <a:path h="787400" w="680720">
                  <a:moveTo>
                    <a:pt x="0" y="141478"/>
                  </a:moveTo>
                  <a:cubicBezTo>
                    <a:pt x="0" y="63373"/>
                    <a:pt x="63373" y="0"/>
                    <a:pt x="141478" y="0"/>
                  </a:cubicBezTo>
                  <a:lnTo>
                    <a:pt x="539242" y="0"/>
                  </a:lnTo>
                  <a:cubicBezTo>
                    <a:pt x="617347" y="0"/>
                    <a:pt x="680720" y="63373"/>
                    <a:pt x="680720" y="141478"/>
                  </a:cubicBezTo>
                  <a:lnTo>
                    <a:pt x="680720" y="645922"/>
                  </a:lnTo>
                  <a:cubicBezTo>
                    <a:pt x="680593" y="724027"/>
                    <a:pt x="617347" y="787400"/>
                    <a:pt x="539242" y="787400"/>
                  </a:cubicBezTo>
                  <a:lnTo>
                    <a:pt x="141478" y="787400"/>
                  </a:lnTo>
                  <a:cubicBezTo>
                    <a:pt x="63373" y="787400"/>
                    <a:pt x="0" y="724027"/>
                    <a:pt x="0" y="645922"/>
                  </a:cubicBezTo>
                  <a:close/>
                </a:path>
              </a:pathLst>
            </a:custGeom>
            <a:solidFill>
              <a:srgbClr val="FBFBFA"/>
            </a:solidFill>
            <a:ln w="6350" cap="sq">
              <a:solidFill>
                <a:srgbClr val="E6E5E1"/>
              </a:solidFill>
              <a:prstDash val="solid"/>
              <a:miter/>
            </a:ln>
          </p:spPr>
        </p:sp>
      </p:grpSp>
      <p:sp>
        <p:nvSpPr>
          <p:cNvPr name="TextBox 23" id="23"/>
          <p:cNvSpPr txBox="true"/>
          <p:nvPr/>
        </p:nvSpPr>
        <p:spPr>
          <a:xfrm rot="0">
            <a:off x="2820495" y="4700988"/>
            <a:ext cx="516826" cy="2921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>
                <a:solidFill>
                  <a:srgbClr val="14141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3483369" y="2465784"/>
            <a:ext cx="363541" cy="5833662"/>
            <a:chOff x="0" y="0"/>
            <a:chExt cx="484721" cy="7778217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484717" cy="7778221"/>
            </a:xfrm>
            <a:custGeom>
              <a:avLst/>
              <a:gdLst/>
              <a:ahLst/>
              <a:cxnLst/>
              <a:rect r="r" b="b" t="t" l="l"/>
              <a:pathLst>
                <a:path h="7778221" w="484717">
                  <a:moveTo>
                    <a:pt x="0" y="0"/>
                  </a:moveTo>
                  <a:lnTo>
                    <a:pt x="484717" y="0"/>
                  </a:lnTo>
                  <a:lnTo>
                    <a:pt x="484717" y="7778221"/>
                  </a:lnTo>
                  <a:lnTo>
                    <a:pt x="0" y="777822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008875" t="0" r="-2008876" b="0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19050"/>
              <a:ext cx="484721" cy="779726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>
                  <a:solidFill>
                    <a:srgbClr val="141416"/>
                  </a:solidFill>
                  <a:latin typeface="Arimo"/>
                  <a:ea typeface="Arimo"/>
                  <a:cs typeface="Arimo"/>
                  <a:sym typeface="Arimo"/>
                </a:rPr>
                <a:t>→</a:t>
              </a:r>
            </a:p>
          </p:txBody>
        </p:sp>
      </p:grpSp>
      <p:sp>
        <p:nvSpPr>
          <p:cNvPr name="TextBox 27" id="27"/>
          <p:cNvSpPr txBox="true"/>
          <p:nvPr/>
        </p:nvSpPr>
        <p:spPr>
          <a:xfrm rot="0">
            <a:off x="3948513" y="2491188"/>
            <a:ext cx="2913374" cy="5969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spc="215">
                <a:solidFill>
                  <a:srgbClr val="A2A2A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PERCEIVE · LOCAL CPU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3919938" y="3205563"/>
            <a:ext cx="2884189" cy="1390650"/>
            <a:chOff x="0" y="0"/>
            <a:chExt cx="3845585" cy="18542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3845560" cy="1854200"/>
            </a:xfrm>
            <a:custGeom>
              <a:avLst/>
              <a:gdLst/>
              <a:ahLst/>
              <a:cxnLst/>
              <a:rect r="r" b="b" t="t" l="l"/>
              <a:pathLst>
                <a:path h="1854200" w="3845560">
                  <a:moveTo>
                    <a:pt x="0" y="178562"/>
                  </a:moveTo>
                  <a:cubicBezTo>
                    <a:pt x="0" y="80010"/>
                    <a:pt x="80010" y="0"/>
                    <a:pt x="178562" y="0"/>
                  </a:cubicBezTo>
                  <a:lnTo>
                    <a:pt x="3666998" y="0"/>
                  </a:lnTo>
                  <a:cubicBezTo>
                    <a:pt x="3765677" y="0"/>
                    <a:pt x="3845560" y="80010"/>
                    <a:pt x="3845560" y="178562"/>
                  </a:cubicBezTo>
                  <a:lnTo>
                    <a:pt x="3845560" y="1675638"/>
                  </a:lnTo>
                  <a:cubicBezTo>
                    <a:pt x="3845560" y="1774317"/>
                    <a:pt x="3765550" y="1854200"/>
                    <a:pt x="3666998" y="1854200"/>
                  </a:cubicBezTo>
                  <a:lnTo>
                    <a:pt x="178562" y="1854200"/>
                  </a:lnTo>
                  <a:cubicBezTo>
                    <a:pt x="80010" y="1854200"/>
                    <a:pt x="0" y="1774190"/>
                    <a:pt x="0" y="1675638"/>
                  </a:cubicBezTo>
                  <a:close/>
                </a:path>
              </a:pathLst>
            </a:custGeom>
            <a:solidFill>
              <a:srgbClr val="F7F7F5"/>
            </a:solidFill>
            <a:ln w="6350" cap="sq">
              <a:solidFill>
                <a:srgbClr val="E6E5E1"/>
              </a:solidFill>
              <a:prstDash val="solid"/>
              <a:miter/>
            </a:ln>
          </p:spPr>
        </p:sp>
      </p:grpSp>
      <p:sp>
        <p:nvSpPr>
          <p:cNvPr name="TextBox 30" id="30"/>
          <p:cNvSpPr txBox="true"/>
          <p:nvPr/>
        </p:nvSpPr>
        <p:spPr>
          <a:xfrm rot="0">
            <a:off x="4145356" y="3411931"/>
            <a:ext cx="2509542" cy="2921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spc="107">
                <a:solidFill>
                  <a:srgbClr val="14141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CAMERA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4145356" y="3773881"/>
            <a:ext cx="2509542" cy="6540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>
                <a:solidFill>
                  <a:srgbClr val="6B6B70"/>
                </a:solidFill>
                <a:latin typeface="Arimo"/>
                <a:ea typeface="Arimo"/>
                <a:cs typeface="Arimo"/>
                <a:sym typeface="Arimo"/>
              </a:rPr>
              <a:t>Gaze &amp; attention · anonymous</a:t>
            </a:r>
          </a:p>
        </p:txBody>
      </p:sp>
      <p:grpSp>
        <p:nvGrpSpPr>
          <p:cNvPr name="Group 32" id="32"/>
          <p:cNvGrpSpPr/>
          <p:nvPr/>
        </p:nvGrpSpPr>
        <p:grpSpPr>
          <a:xfrm rot="0">
            <a:off x="3919938" y="4723209"/>
            <a:ext cx="2884189" cy="1390650"/>
            <a:chOff x="0" y="0"/>
            <a:chExt cx="3845585" cy="18542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3845560" cy="1854200"/>
            </a:xfrm>
            <a:custGeom>
              <a:avLst/>
              <a:gdLst/>
              <a:ahLst/>
              <a:cxnLst/>
              <a:rect r="r" b="b" t="t" l="l"/>
              <a:pathLst>
                <a:path h="1854200" w="3845560">
                  <a:moveTo>
                    <a:pt x="0" y="178562"/>
                  </a:moveTo>
                  <a:cubicBezTo>
                    <a:pt x="0" y="80010"/>
                    <a:pt x="80010" y="0"/>
                    <a:pt x="178562" y="0"/>
                  </a:cubicBezTo>
                  <a:lnTo>
                    <a:pt x="3666998" y="0"/>
                  </a:lnTo>
                  <a:cubicBezTo>
                    <a:pt x="3765677" y="0"/>
                    <a:pt x="3845560" y="80010"/>
                    <a:pt x="3845560" y="178562"/>
                  </a:cubicBezTo>
                  <a:lnTo>
                    <a:pt x="3845560" y="1675638"/>
                  </a:lnTo>
                  <a:cubicBezTo>
                    <a:pt x="3845560" y="1774317"/>
                    <a:pt x="3765550" y="1854200"/>
                    <a:pt x="3666998" y="1854200"/>
                  </a:cubicBezTo>
                  <a:lnTo>
                    <a:pt x="178562" y="1854200"/>
                  </a:lnTo>
                  <a:cubicBezTo>
                    <a:pt x="80010" y="1854200"/>
                    <a:pt x="0" y="1774190"/>
                    <a:pt x="0" y="1675638"/>
                  </a:cubicBezTo>
                  <a:close/>
                </a:path>
              </a:pathLst>
            </a:custGeom>
            <a:solidFill>
              <a:srgbClr val="F7F7F5"/>
            </a:solidFill>
            <a:ln w="6350" cap="sq">
              <a:solidFill>
                <a:srgbClr val="E6E5E1"/>
              </a:solidFill>
              <a:prstDash val="solid"/>
              <a:miter/>
            </a:ln>
          </p:spPr>
        </p:sp>
      </p:grpSp>
      <p:sp>
        <p:nvSpPr>
          <p:cNvPr name="TextBox 34" id="34"/>
          <p:cNvSpPr txBox="true"/>
          <p:nvPr/>
        </p:nvSpPr>
        <p:spPr>
          <a:xfrm rot="0">
            <a:off x="4145356" y="4929588"/>
            <a:ext cx="2509542" cy="2921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spc="107">
                <a:solidFill>
                  <a:srgbClr val="14141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MIC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4145356" y="5291538"/>
            <a:ext cx="2509542" cy="6540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>
                <a:solidFill>
                  <a:srgbClr val="6B6B70"/>
                </a:solidFill>
                <a:latin typeface="Arimo"/>
                <a:ea typeface="Arimo"/>
                <a:cs typeface="Arimo"/>
                <a:sym typeface="Arimo"/>
              </a:rPr>
              <a:t>Streaming ASR · pace · pause</a:t>
            </a:r>
          </a:p>
        </p:txBody>
      </p:sp>
      <p:grpSp>
        <p:nvGrpSpPr>
          <p:cNvPr name="Group 36" id="36"/>
          <p:cNvGrpSpPr/>
          <p:nvPr/>
        </p:nvGrpSpPr>
        <p:grpSpPr>
          <a:xfrm rot="0">
            <a:off x="3919938" y="6240856"/>
            <a:ext cx="2884189" cy="1390650"/>
            <a:chOff x="0" y="0"/>
            <a:chExt cx="3845585" cy="185420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3845560" cy="1854200"/>
            </a:xfrm>
            <a:custGeom>
              <a:avLst/>
              <a:gdLst/>
              <a:ahLst/>
              <a:cxnLst/>
              <a:rect r="r" b="b" t="t" l="l"/>
              <a:pathLst>
                <a:path h="1854200" w="3845560">
                  <a:moveTo>
                    <a:pt x="0" y="178562"/>
                  </a:moveTo>
                  <a:cubicBezTo>
                    <a:pt x="0" y="80010"/>
                    <a:pt x="80010" y="0"/>
                    <a:pt x="178562" y="0"/>
                  </a:cubicBezTo>
                  <a:lnTo>
                    <a:pt x="3666998" y="0"/>
                  </a:lnTo>
                  <a:cubicBezTo>
                    <a:pt x="3765677" y="0"/>
                    <a:pt x="3845560" y="80010"/>
                    <a:pt x="3845560" y="178562"/>
                  </a:cubicBezTo>
                  <a:lnTo>
                    <a:pt x="3845560" y="1675638"/>
                  </a:lnTo>
                  <a:cubicBezTo>
                    <a:pt x="3845560" y="1774317"/>
                    <a:pt x="3765550" y="1854200"/>
                    <a:pt x="3666998" y="1854200"/>
                  </a:cubicBezTo>
                  <a:lnTo>
                    <a:pt x="178562" y="1854200"/>
                  </a:lnTo>
                  <a:cubicBezTo>
                    <a:pt x="80010" y="1854200"/>
                    <a:pt x="0" y="1774190"/>
                    <a:pt x="0" y="1675638"/>
                  </a:cubicBezTo>
                  <a:close/>
                </a:path>
              </a:pathLst>
            </a:custGeom>
            <a:solidFill>
              <a:srgbClr val="F7F7F5"/>
            </a:solidFill>
            <a:ln w="6350" cap="sq">
              <a:solidFill>
                <a:srgbClr val="E6E5E1"/>
              </a:solidFill>
              <a:prstDash val="solid"/>
              <a:miter/>
            </a:ln>
          </p:spPr>
        </p:sp>
      </p:grpSp>
      <p:sp>
        <p:nvSpPr>
          <p:cNvPr name="TextBox 38" id="38"/>
          <p:cNvSpPr txBox="true"/>
          <p:nvPr/>
        </p:nvSpPr>
        <p:spPr>
          <a:xfrm rot="0">
            <a:off x="4145356" y="6447234"/>
            <a:ext cx="2509542" cy="2921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spc="107">
                <a:solidFill>
                  <a:srgbClr val="14141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DEVICES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4145356" y="6809184"/>
            <a:ext cx="2509542" cy="6540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>
                <a:solidFill>
                  <a:srgbClr val="6B6B70"/>
                </a:solidFill>
                <a:latin typeface="Arimo"/>
                <a:ea typeface="Arimo"/>
                <a:cs typeface="Arimo"/>
                <a:sym typeface="Arimo"/>
              </a:rPr>
              <a:t>Typed Q · reactions · ink</a:t>
            </a:r>
          </a:p>
        </p:txBody>
      </p:sp>
      <p:grpSp>
        <p:nvGrpSpPr>
          <p:cNvPr name="Group 40" id="40"/>
          <p:cNvGrpSpPr/>
          <p:nvPr/>
        </p:nvGrpSpPr>
        <p:grpSpPr>
          <a:xfrm rot="0">
            <a:off x="6953345" y="2465784"/>
            <a:ext cx="363541" cy="5833662"/>
            <a:chOff x="0" y="0"/>
            <a:chExt cx="484721" cy="7778217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484717" cy="7778221"/>
            </a:xfrm>
            <a:custGeom>
              <a:avLst/>
              <a:gdLst/>
              <a:ahLst/>
              <a:cxnLst/>
              <a:rect r="r" b="b" t="t" l="l"/>
              <a:pathLst>
                <a:path h="7778221" w="484717">
                  <a:moveTo>
                    <a:pt x="0" y="0"/>
                  </a:moveTo>
                  <a:lnTo>
                    <a:pt x="484717" y="0"/>
                  </a:lnTo>
                  <a:lnTo>
                    <a:pt x="484717" y="7778221"/>
                  </a:lnTo>
                  <a:lnTo>
                    <a:pt x="0" y="777822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008875" t="0" r="-2008876" b="0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19050"/>
              <a:ext cx="484721" cy="779726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>
                  <a:solidFill>
                    <a:srgbClr val="141416"/>
                  </a:solidFill>
                  <a:latin typeface="Arimo"/>
                  <a:ea typeface="Arimo"/>
                  <a:cs typeface="Arimo"/>
                  <a:sym typeface="Arimo"/>
                </a:rPr>
                <a:t>→</a:t>
              </a:r>
            </a:p>
          </p:txBody>
        </p:sp>
      </p:grpSp>
      <p:sp>
        <p:nvSpPr>
          <p:cNvPr name="TextBox 43" id="43"/>
          <p:cNvSpPr txBox="true"/>
          <p:nvPr/>
        </p:nvSpPr>
        <p:spPr>
          <a:xfrm rot="0">
            <a:off x="7418489" y="2491188"/>
            <a:ext cx="2442762" cy="2921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spc="215">
                <a:solidFill>
                  <a:srgbClr val="A2A2A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FUSE</a:t>
            </a:r>
          </a:p>
        </p:txBody>
      </p:sp>
      <p:grpSp>
        <p:nvGrpSpPr>
          <p:cNvPr name="Group 44" id="44"/>
          <p:cNvGrpSpPr/>
          <p:nvPr/>
        </p:nvGrpSpPr>
        <p:grpSpPr>
          <a:xfrm rot="0">
            <a:off x="7389914" y="2900763"/>
            <a:ext cx="2423712" cy="571500"/>
            <a:chOff x="0" y="0"/>
            <a:chExt cx="3231617" cy="76200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3231515" cy="762000"/>
            </a:xfrm>
            <a:custGeom>
              <a:avLst/>
              <a:gdLst/>
              <a:ahLst/>
              <a:cxnLst/>
              <a:rect r="r" b="b" t="t" l="l"/>
              <a:pathLst>
                <a:path h="762000" w="3231515">
                  <a:moveTo>
                    <a:pt x="0" y="141224"/>
                  </a:moveTo>
                  <a:cubicBezTo>
                    <a:pt x="0" y="63246"/>
                    <a:pt x="63246" y="0"/>
                    <a:pt x="141224" y="0"/>
                  </a:cubicBezTo>
                  <a:lnTo>
                    <a:pt x="3090291" y="0"/>
                  </a:lnTo>
                  <a:cubicBezTo>
                    <a:pt x="3168269" y="0"/>
                    <a:pt x="3231515" y="63246"/>
                    <a:pt x="3231515" y="141224"/>
                  </a:cubicBezTo>
                  <a:lnTo>
                    <a:pt x="3231515" y="620776"/>
                  </a:lnTo>
                  <a:cubicBezTo>
                    <a:pt x="3231515" y="698754"/>
                    <a:pt x="3168269" y="762000"/>
                    <a:pt x="3090291" y="762000"/>
                  </a:cubicBezTo>
                  <a:lnTo>
                    <a:pt x="141224" y="762000"/>
                  </a:lnTo>
                  <a:cubicBezTo>
                    <a:pt x="63246" y="762000"/>
                    <a:pt x="0" y="698754"/>
                    <a:pt x="0" y="620776"/>
                  </a:cubicBez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2635" r="-3" b="-32635"/>
              </a:stretch>
            </a:blipFill>
            <a:ln w="6350" cap="sq">
              <a:solidFill>
                <a:srgbClr val="E6E5E1"/>
              </a:solidFill>
              <a:prstDash val="dash"/>
              <a:miter/>
            </a:ln>
          </p:spPr>
        </p:sp>
      </p:grpSp>
      <p:sp>
        <p:nvSpPr>
          <p:cNvPr name="TextBox 46" id="46"/>
          <p:cNvSpPr txBox="true"/>
          <p:nvPr/>
        </p:nvSpPr>
        <p:spPr>
          <a:xfrm rot="0">
            <a:off x="7386733" y="3059506"/>
            <a:ext cx="2430066" cy="2921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 spc="144">
                <a:solidFill>
                  <a:srgbClr val="6B6B7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EVENT BUS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7380389" y="3618309"/>
            <a:ext cx="2442762" cy="2635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2100">
                <a:solidFill>
                  <a:srgbClr val="141416"/>
                </a:solidFill>
                <a:latin typeface="Arimo"/>
                <a:ea typeface="Arimo"/>
                <a:cs typeface="Arimo"/>
                <a:sym typeface="Arimo"/>
              </a:rPr>
              <a:t>↓</a:t>
            </a:r>
          </a:p>
        </p:txBody>
      </p:sp>
      <p:grpSp>
        <p:nvGrpSpPr>
          <p:cNvPr name="Group 48" id="48"/>
          <p:cNvGrpSpPr/>
          <p:nvPr/>
        </p:nvGrpSpPr>
        <p:grpSpPr>
          <a:xfrm rot="0">
            <a:off x="7389914" y="3999309"/>
            <a:ext cx="2423712" cy="4265219"/>
            <a:chOff x="0" y="0"/>
            <a:chExt cx="3231617" cy="5686958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3231642" cy="5686933"/>
            </a:xfrm>
            <a:custGeom>
              <a:avLst/>
              <a:gdLst/>
              <a:ahLst/>
              <a:cxnLst/>
              <a:rect r="r" b="b" t="t" l="l"/>
              <a:pathLst>
                <a:path h="5686933" w="3231642">
                  <a:moveTo>
                    <a:pt x="0" y="203708"/>
                  </a:moveTo>
                  <a:cubicBezTo>
                    <a:pt x="0" y="91186"/>
                    <a:pt x="91186" y="0"/>
                    <a:pt x="203708" y="0"/>
                  </a:cubicBezTo>
                  <a:lnTo>
                    <a:pt x="3027934" y="0"/>
                  </a:lnTo>
                  <a:cubicBezTo>
                    <a:pt x="3140456" y="0"/>
                    <a:pt x="3231642" y="91186"/>
                    <a:pt x="3231642" y="203708"/>
                  </a:cubicBezTo>
                  <a:lnTo>
                    <a:pt x="3231642" y="5483225"/>
                  </a:lnTo>
                  <a:cubicBezTo>
                    <a:pt x="3231642" y="5595747"/>
                    <a:pt x="3140456" y="5686933"/>
                    <a:pt x="3027934" y="5686933"/>
                  </a:cubicBezTo>
                  <a:lnTo>
                    <a:pt x="203708" y="5686933"/>
                  </a:lnTo>
                  <a:cubicBezTo>
                    <a:pt x="91186" y="5686933"/>
                    <a:pt x="0" y="5595747"/>
                    <a:pt x="0" y="5483225"/>
                  </a:cubicBezTo>
                  <a:close/>
                </a:path>
              </a:pathLst>
            </a:custGeom>
            <a:solidFill>
              <a:srgbClr val="141416"/>
            </a:solidFill>
            <a:ln w="6350" cap="sq">
              <a:solidFill>
                <a:srgbClr val="141416"/>
              </a:solidFill>
              <a:prstDash val="solid"/>
              <a:miter/>
            </a:ln>
          </p:spPr>
        </p:sp>
      </p:grpSp>
      <p:sp>
        <p:nvSpPr>
          <p:cNvPr name="TextBox 50" id="50"/>
          <p:cNvSpPr txBox="true"/>
          <p:nvPr/>
        </p:nvSpPr>
        <p:spPr>
          <a:xfrm rot="0">
            <a:off x="7634383" y="5090522"/>
            <a:ext cx="2010966" cy="3683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RoomState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7634383" y="5528672"/>
            <a:ext cx="2010966" cy="6540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>
                <a:solidFill>
                  <a:srgbClr val="E6E6E6"/>
                </a:solidFill>
                <a:latin typeface="Arimo"/>
                <a:ea typeface="Arimo"/>
                <a:cs typeface="Arimo"/>
                <a:sym typeface="Arimo"/>
              </a:rPr>
              <a:t>Fused · ≤ 700 tokens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7634383" y="6290672"/>
            <a:ext cx="2010966" cy="9017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9A9A9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10 s tactical · 60 s strategic</a:t>
            </a:r>
          </a:p>
        </p:txBody>
      </p:sp>
      <p:grpSp>
        <p:nvGrpSpPr>
          <p:cNvPr name="Group 53" id="53"/>
          <p:cNvGrpSpPr/>
          <p:nvPr/>
        </p:nvGrpSpPr>
        <p:grpSpPr>
          <a:xfrm rot="0">
            <a:off x="9962855" y="2465784"/>
            <a:ext cx="363541" cy="5833662"/>
            <a:chOff x="0" y="0"/>
            <a:chExt cx="484721" cy="7778217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484717" cy="7778221"/>
            </a:xfrm>
            <a:custGeom>
              <a:avLst/>
              <a:gdLst/>
              <a:ahLst/>
              <a:cxnLst/>
              <a:rect r="r" b="b" t="t" l="l"/>
              <a:pathLst>
                <a:path h="7778221" w="484717">
                  <a:moveTo>
                    <a:pt x="0" y="0"/>
                  </a:moveTo>
                  <a:lnTo>
                    <a:pt x="484717" y="0"/>
                  </a:lnTo>
                  <a:lnTo>
                    <a:pt x="484717" y="7778221"/>
                  </a:lnTo>
                  <a:lnTo>
                    <a:pt x="0" y="777822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008875" t="0" r="-2008876" b="0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19050"/>
              <a:ext cx="484721" cy="779726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>
                  <a:solidFill>
                    <a:srgbClr val="141416"/>
                  </a:solidFill>
                  <a:latin typeface="Arimo"/>
                  <a:ea typeface="Arimo"/>
                  <a:cs typeface="Arimo"/>
                  <a:sym typeface="Arimo"/>
                </a:rPr>
                <a:t>→</a:t>
              </a:r>
            </a:p>
          </p:txBody>
        </p:sp>
      </p:grpSp>
      <p:sp>
        <p:nvSpPr>
          <p:cNvPr name="TextBox 56" id="56"/>
          <p:cNvSpPr txBox="true"/>
          <p:nvPr/>
        </p:nvSpPr>
        <p:spPr>
          <a:xfrm rot="0">
            <a:off x="10427989" y="2491188"/>
            <a:ext cx="3793274" cy="2921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spc="215">
                <a:solidFill>
                  <a:srgbClr val="A2A2A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REASON · 4 AGENTS</a:t>
            </a:r>
          </a:p>
        </p:txBody>
      </p:sp>
      <p:grpSp>
        <p:nvGrpSpPr>
          <p:cNvPr name="Group 57" id="57"/>
          <p:cNvGrpSpPr/>
          <p:nvPr/>
        </p:nvGrpSpPr>
        <p:grpSpPr>
          <a:xfrm rot="0">
            <a:off x="10399414" y="2900763"/>
            <a:ext cx="1873453" cy="2627909"/>
            <a:chOff x="0" y="0"/>
            <a:chExt cx="2497938" cy="3503879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2497836" cy="3503803"/>
            </a:xfrm>
            <a:custGeom>
              <a:avLst/>
              <a:gdLst/>
              <a:ahLst/>
              <a:cxnLst/>
              <a:rect r="r" b="b" t="t" l="l"/>
              <a:pathLst>
                <a:path h="3503803" w="2497836">
                  <a:moveTo>
                    <a:pt x="0" y="165608"/>
                  </a:moveTo>
                  <a:cubicBezTo>
                    <a:pt x="0" y="74168"/>
                    <a:pt x="74168" y="0"/>
                    <a:pt x="165608" y="0"/>
                  </a:cubicBezTo>
                  <a:lnTo>
                    <a:pt x="2332228" y="0"/>
                  </a:lnTo>
                  <a:cubicBezTo>
                    <a:pt x="2423668" y="0"/>
                    <a:pt x="2497836" y="74168"/>
                    <a:pt x="2497836" y="165608"/>
                  </a:cubicBezTo>
                  <a:lnTo>
                    <a:pt x="2497836" y="3338195"/>
                  </a:lnTo>
                  <a:cubicBezTo>
                    <a:pt x="2497836" y="3429635"/>
                    <a:pt x="2423668" y="3503803"/>
                    <a:pt x="2332228" y="3503803"/>
                  </a:cubicBezTo>
                  <a:lnTo>
                    <a:pt x="165608" y="3503803"/>
                  </a:lnTo>
                  <a:cubicBezTo>
                    <a:pt x="74168" y="3503930"/>
                    <a:pt x="0" y="3429762"/>
                    <a:pt x="0" y="3338195"/>
                  </a:cubicBezTo>
                  <a:close/>
                </a:path>
              </a:pathLst>
            </a:custGeom>
            <a:solidFill>
              <a:srgbClr val="F7F7F5"/>
            </a:solidFill>
            <a:ln w="6350" cap="sq">
              <a:solidFill>
                <a:srgbClr val="E6E5E1"/>
              </a:solidFill>
              <a:prstDash val="solid"/>
              <a:miter/>
            </a:ln>
          </p:spPr>
        </p:sp>
      </p:grpSp>
      <p:grpSp>
        <p:nvGrpSpPr>
          <p:cNvPr name="Group 59" id="59"/>
          <p:cNvGrpSpPr/>
          <p:nvPr/>
        </p:nvGrpSpPr>
        <p:grpSpPr>
          <a:xfrm rot="0">
            <a:off x="10580389" y="3081738"/>
            <a:ext cx="1587703" cy="2304059"/>
            <a:chOff x="0" y="0"/>
            <a:chExt cx="2116938" cy="3072079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2116932" cy="3072077"/>
            </a:xfrm>
            <a:custGeom>
              <a:avLst/>
              <a:gdLst/>
              <a:ahLst/>
              <a:cxnLst/>
              <a:rect r="r" b="b" t="t" l="l"/>
              <a:pathLst>
                <a:path h="3072077" w="2116932">
                  <a:moveTo>
                    <a:pt x="0" y="0"/>
                  </a:moveTo>
                  <a:lnTo>
                    <a:pt x="2116932" y="0"/>
                  </a:lnTo>
                  <a:lnTo>
                    <a:pt x="2116932" y="3072077"/>
                  </a:lnTo>
                  <a:lnTo>
                    <a:pt x="0" y="307207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36193" t="0" r="-136193" b="0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66675"/>
              <a:ext cx="2116938" cy="313875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08"/>
                </a:lnSpc>
              </a:pPr>
              <a:r>
                <a:rPr lang="en-US" sz="1950">
                  <a:solidFill>
                    <a:srgbClr val="141416"/>
                  </a:solidFill>
                  <a:latin typeface="Arimo"/>
                  <a:ea typeface="Arimo"/>
                  <a:cs typeface="Arimo"/>
                  <a:sym typeface="Arimo"/>
                </a:rPr>
                <a:t>Engagement Analyst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12380814" y="2900763"/>
            <a:ext cx="1757067" cy="2627909"/>
            <a:chOff x="0" y="0"/>
            <a:chExt cx="2342756" cy="3503879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2342769" cy="3503930"/>
            </a:xfrm>
            <a:custGeom>
              <a:avLst/>
              <a:gdLst/>
              <a:ahLst/>
              <a:cxnLst/>
              <a:rect r="r" b="b" t="t" l="l"/>
              <a:pathLst>
                <a:path h="3503930" w="2342769">
                  <a:moveTo>
                    <a:pt x="0" y="165735"/>
                  </a:moveTo>
                  <a:cubicBezTo>
                    <a:pt x="0" y="74168"/>
                    <a:pt x="74168" y="0"/>
                    <a:pt x="165735" y="0"/>
                  </a:cubicBezTo>
                  <a:lnTo>
                    <a:pt x="2177034" y="0"/>
                  </a:lnTo>
                  <a:cubicBezTo>
                    <a:pt x="2268601" y="0"/>
                    <a:pt x="2342769" y="74168"/>
                    <a:pt x="2342769" y="165735"/>
                  </a:cubicBezTo>
                  <a:lnTo>
                    <a:pt x="2342769" y="3338195"/>
                  </a:lnTo>
                  <a:cubicBezTo>
                    <a:pt x="2342769" y="3429762"/>
                    <a:pt x="2268601" y="3503930"/>
                    <a:pt x="2177034" y="3503930"/>
                  </a:cubicBezTo>
                  <a:lnTo>
                    <a:pt x="165735" y="3503930"/>
                  </a:lnTo>
                  <a:cubicBezTo>
                    <a:pt x="74168" y="3503930"/>
                    <a:pt x="0" y="3429635"/>
                    <a:pt x="0" y="3338195"/>
                  </a:cubicBezTo>
                  <a:close/>
                </a:path>
              </a:pathLst>
            </a:custGeom>
            <a:solidFill>
              <a:srgbClr val="F7F7F5"/>
            </a:solidFill>
            <a:ln w="6350" cap="sq">
              <a:solidFill>
                <a:srgbClr val="E6E5E1"/>
              </a:solidFill>
              <a:prstDash val="solid"/>
              <a:miter/>
            </a:ln>
          </p:spPr>
        </p:sp>
      </p:grpSp>
      <p:grpSp>
        <p:nvGrpSpPr>
          <p:cNvPr name="Group 64" id="64"/>
          <p:cNvGrpSpPr/>
          <p:nvPr/>
        </p:nvGrpSpPr>
        <p:grpSpPr>
          <a:xfrm rot="0">
            <a:off x="12561789" y="3081738"/>
            <a:ext cx="1471317" cy="2304059"/>
            <a:chOff x="0" y="0"/>
            <a:chExt cx="1961756" cy="3072079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1961753" cy="3072077"/>
            </a:xfrm>
            <a:custGeom>
              <a:avLst/>
              <a:gdLst/>
              <a:ahLst/>
              <a:cxnLst/>
              <a:rect r="r" b="b" t="t" l="l"/>
              <a:pathLst>
                <a:path h="3072077" w="1961753">
                  <a:moveTo>
                    <a:pt x="0" y="0"/>
                  </a:moveTo>
                  <a:lnTo>
                    <a:pt x="1961753" y="0"/>
                  </a:lnTo>
                  <a:lnTo>
                    <a:pt x="1961753" y="3072077"/>
                  </a:lnTo>
                  <a:lnTo>
                    <a:pt x="0" y="307207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50921" t="0" r="-150921" b="0"/>
              </a:stretch>
            </a:blipFill>
          </p:spPr>
        </p:sp>
        <p:sp>
          <p:nvSpPr>
            <p:cNvPr name="TextBox 66" id="66"/>
            <p:cNvSpPr txBox="true"/>
            <p:nvPr/>
          </p:nvSpPr>
          <p:spPr>
            <a:xfrm>
              <a:off x="0" y="-66675"/>
              <a:ext cx="1961756" cy="313875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08"/>
                </a:lnSpc>
              </a:pPr>
              <a:r>
                <a:rPr lang="en-US" sz="1950">
                  <a:solidFill>
                    <a:srgbClr val="141416"/>
                  </a:solidFill>
                  <a:latin typeface="Arimo"/>
                  <a:ea typeface="Arimo"/>
                  <a:cs typeface="Arimo"/>
                  <a:sym typeface="Arimo"/>
                </a:rPr>
                <a:t>Moderator</a:t>
              </a:r>
            </a:p>
          </p:txBody>
        </p:sp>
      </p:grpSp>
      <p:grpSp>
        <p:nvGrpSpPr>
          <p:cNvPr name="Group 67" id="67"/>
          <p:cNvGrpSpPr/>
          <p:nvPr/>
        </p:nvGrpSpPr>
        <p:grpSpPr>
          <a:xfrm rot="0">
            <a:off x="10399414" y="5636619"/>
            <a:ext cx="1873453" cy="2627909"/>
            <a:chOff x="0" y="0"/>
            <a:chExt cx="2497938" cy="3503879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2497836" cy="3503803"/>
            </a:xfrm>
            <a:custGeom>
              <a:avLst/>
              <a:gdLst/>
              <a:ahLst/>
              <a:cxnLst/>
              <a:rect r="r" b="b" t="t" l="l"/>
              <a:pathLst>
                <a:path h="3503803" w="2497836">
                  <a:moveTo>
                    <a:pt x="0" y="165608"/>
                  </a:moveTo>
                  <a:cubicBezTo>
                    <a:pt x="0" y="74168"/>
                    <a:pt x="74168" y="0"/>
                    <a:pt x="165608" y="0"/>
                  </a:cubicBezTo>
                  <a:lnTo>
                    <a:pt x="2332228" y="0"/>
                  </a:lnTo>
                  <a:cubicBezTo>
                    <a:pt x="2423668" y="0"/>
                    <a:pt x="2497836" y="74168"/>
                    <a:pt x="2497836" y="165608"/>
                  </a:cubicBezTo>
                  <a:lnTo>
                    <a:pt x="2497836" y="3338195"/>
                  </a:lnTo>
                  <a:cubicBezTo>
                    <a:pt x="2497836" y="3429635"/>
                    <a:pt x="2423668" y="3503803"/>
                    <a:pt x="2332228" y="3503803"/>
                  </a:cubicBezTo>
                  <a:lnTo>
                    <a:pt x="165608" y="3503803"/>
                  </a:lnTo>
                  <a:cubicBezTo>
                    <a:pt x="74168" y="3503930"/>
                    <a:pt x="0" y="3429762"/>
                    <a:pt x="0" y="3338195"/>
                  </a:cubicBezTo>
                  <a:close/>
                </a:path>
              </a:pathLst>
            </a:custGeom>
            <a:solidFill>
              <a:srgbClr val="F7F7F5"/>
            </a:solidFill>
            <a:ln w="6350" cap="sq">
              <a:solidFill>
                <a:srgbClr val="E6E5E1"/>
              </a:solidFill>
              <a:prstDash val="solid"/>
              <a:miter/>
            </a:ln>
          </p:spPr>
        </p:sp>
      </p:grpSp>
      <p:grpSp>
        <p:nvGrpSpPr>
          <p:cNvPr name="Group 69" id="69"/>
          <p:cNvGrpSpPr/>
          <p:nvPr/>
        </p:nvGrpSpPr>
        <p:grpSpPr>
          <a:xfrm rot="0">
            <a:off x="10580389" y="5817594"/>
            <a:ext cx="1587703" cy="2304059"/>
            <a:chOff x="0" y="0"/>
            <a:chExt cx="2116938" cy="3072079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2116932" cy="3072077"/>
            </a:xfrm>
            <a:custGeom>
              <a:avLst/>
              <a:gdLst/>
              <a:ahLst/>
              <a:cxnLst/>
              <a:rect r="r" b="b" t="t" l="l"/>
              <a:pathLst>
                <a:path h="3072077" w="2116932">
                  <a:moveTo>
                    <a:pt x="0" y="0"/>
                  </a:moveTo>
                  <a:lnTo>
                    <a:pt x="2116932" y="0"/>
                  </a:lnTo>
                  <a:lnTo>
                    <a:pt x="2116932" y="3072077"/>
                  </a:lnTo>
                  <a:lnTo>
                    <a:pt x="0" y="307207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36193" t="0" r="-136193" b="0"/>
              </a:stretch>
            </a:blipFill>
          </p:spPr>
        </p:sp>
        <p:sp>
          <p:nvSpPr>
            <p:cNvPr name="TextBox 71" id="71"/>
            <p:cNvSpPr txBox="true"/>
            <p:nvPr/>
          </p:nvSpPr>
          <p:spPr>
            <a:xfrm>
              <a:off x="0" y="-66675"/>
              <a:ext cx="2116938" cy="313875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08"/>
                </a:lnSpc>
              </a:pPr>
              <a:r>
                <a:rPr lang="en-US" sz="1950">
                  <a:solidFill>
                    <a:srgbClr val="141416"/>
                  </a:solidFill>
                  <a:latin typeface="Arimo"/>
                  <a:ea typeface="Arimo"/>
                  <a:cs typeface="Arimo"/>
                  <a:sym typeface="Arimo"/>
                </a:rPr>
                <a:t>Presenter Coach</a:t>
              </a:r>
            </a:p>
          </p:txBody>
        </p:sp>
      </p:grpSp>
      <p:grpSp>
        <p:nvGrpSpPr>
          <p:cNvPr name="Group 72" id="72"/>
          <p:cNvGrpSpPr/>
          <p:nvPr/>
        </p:nvGrpSpPr>
        <p:grpSpPr>
          <a:xfrm rot="0">
            <a:off x="12380814" y="5636619"/>
            <a:ext cx="1757067" cy="2627909"/>
            <a:chOff x="0" y="0"/>
            <a:chExt cx="2342756" cy="3503879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2342769" cy="3503930"/>
            </a:xfrm>
            <a:custGeom>
              <a:avLst/>
              <a:gdLst/>
              <a:ahLst/>
              <a:cxnLst/>
              <a:rect r="r" b="b" t="t" l="l"/>
              <a:pathLst>
                <a:path h="3503930" w="2342769">
                  <a:moveTo>
                    <a:pt x="0" y="165735"/>
                  </a:moveTo>
                  <a:cubicBezTo>
                    <a:pt x="0" y="74168"/>
                    <a:pt x="74168" y="0"/>
                    <a:pt x="165735" y="0"/>
                  </a:cubicBezTo>
                  <a:lnTo>
                    <a:pt x="2177034" y="0"/>
                  </a:lnTo>
                  <a:cubicBezTo>
                    <a:pt x="2268601" y="0"/>
                    <a:pt x="2342769" y="74168"/>
                    <a:pt x="2342769" y="165735"/>
                  </a:cubicBezTo>
                  <a:lnTo>
                    <a:pt x="2342769" y="3338195"/>
                  </a:lnTo>
                  <a:cubicBezTo>
                    <a:pt x="2342769" y="3429762"/>
                    <a:pt x="2268601" y="3503930"/>
                    <a:pt x="2177034" y="3503930"/>
                  </a:cubicBezTo>
                  <a:lnTo>
                    <a:pt x="165735" y="3503930"/>
                  </a:lnTo>
                  <a:cubicBezTo>
                    <a:pt x="74168" y="3503930"/>
                    <a:pt x="0" y="3429635"/>
                    <a:pt x="0" y="3338195"/>
                  </a:cubicBezTo>
                  <a:close/>
                </a:path>
              </a:pathLst>
            </a:custGeom>
            <a:solidFill>
              <a:srgbClr val="F7F7F5"/>
            </a:solidFill>
            <a:ln w="6350" cap="sq">
              <a:solidFill>
                <a:srgbClr val="E6E5E1"/>
              </a:solidFill>
              <a:prstDash val="solid"/>
              <a:miter/>
            </a:ln>
          </p:spPr>
        </p:sp>
      </p:grpSp>
      <p:grpSp>
        <p:nvGrpSpPr>
          <p:cNvPr name="Group 74" id="74"/>
          <p:cNvGrpSpPr/>
          <p:nvPr/>
        </p:nvGrpSpPr>
        <p:grpSpPr>
          <a:xfrm rot="0">
            <a:off x="12561789" y="5817594"/>
            <a:ext cx="1471317" cy="2304059"/>
            <a:chOff x="0" y="0"/>
            <a:chExt cx="1961756" cy="3072079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1961753" cy="3072077"/>
            </a:xfrm>
            <a:custGeom>
              <a:avLst/>
              <a:gdLst/>
              <a:ahLst/>
              <a:cxnLst/>
              <a:rect r="r" b="b" t="t" l="l"/>
              <a:pathLst>
                <a:path h="3072077" w="1961753">
                  <a:moveTo>
                    <a:pt x="0" y="0"/>
                  </a:moveTo>
                  <a:lnTo>
                    <a:pt x="1961753" y="0"/>
                  </a:lnTo>
                  <a:lnTo>
                    <a:pt x="1961753" y="3072077"/>
                  </a:lnTo>
                  <a:lnTo>
                    <a:pt x="0" y="307207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50921" t="0" r="-150921" b="0"/>
              </a:stretch>
            </a:blipFill>
          </p:spPr>
        </p:sp>
        <p:sp>
          <p:nvSpPr>
            <p:cNvPr name="TextBox 76" id="76"/>
            <p:cNvSpPr txBox="true"/>
            <p:nvPr/>
          </p:nvSpPr>
          <p:spPr>
            <a:xfrm>
              <a:off x="0" y="-66675"/>
              <a:ext cx="1961756" cy="313875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08"/>
                </a:lnSpc>
              </a:pPr>
              <a:r>
                <a:rPr lang="en-US" sz="1950">
                  <a:solidFill>
                    <a:srgbClr val="141416"/>
                  </a:solidFill>
                  <a:latin typeface="Arimo"/>
                  <a:ea typeface="Arimo"/>
                  <a:cs typeface="Arimo"/>
                  <a:sym typeface="Arimo"/>
                </a:rPr>
                <a:t>Summarizer</a:t>
              </a:r>
            </a:p>
          </p:txBody>
        </p:sp>
      </p:grpSp>
      <p:grpSp>
        <p:nvGrpSpPr>
          <p:cNvPr name="Group 77" id="77"/>
          <p:cNvGrpSpPr/>
          <p:nvPr/>
        </p:nvGrpSpPr>
        <p:grpSpPr>
          <a:xfrm rot="0">
            <a:off x="14287100" y="2465784"/>
            <a:ext cx="363541" cy="5833662"/>
            <a:chOff x="0" y="0"/>
            <a:chExt cx="484721" cy="7778217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484717" cy="7778221"/>
            </a:xfrm>
            <a:custGeom>
              <a:avLst/>
              <a:gdLst/>
              <a:ahLst/>
              <a:cxnLst/>
              <a:rect r="r" b="b" t="t" l="l"/>
              <a:pathLst>
                <a:path h="7778221" w="484717">
                  <a:moveTo>
                    <a:pt x="0" y="0"/>
                  </a:moveTo>
                  <a:lnTo>
                    <a:pt x="484717" y="0"/>
                  </a:lnTo>
                  <a:lnTo>
                    <a:pt x="484717" y="7778221"/>
                  </a:lnTo>
                  <a:lnTo>
                    <a:pt x="0" y="777822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008875" t="0" r="-2008876" b="0"/>
              </a:stretch>
            </a:blipFill>
          </p:spPr>
        </p:sp>
        <p:sp>
          <p:nvSpPr>
            <p:cNvPr name="TextBox 79" id="79"/>
            <p:cNvSpPr txBox="true"/>
            <p:nvPr/>
          </p:nvSpPr>
          <p:spPr>
            <a:xfrm>
              <a:off x="0" y="-19050"/>
              <a:ext cx="484721" cy="779726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>
                  <a:solidFill>
                    <a:srgbClr val="141416"/>
                  </a:solidFill>
                  <a:latin typeface="Arimo"/>
                  <a:ea typeface="Arimo"/>
                  <a:cs typeface="Arimo"/>
                  <a:sym typeface="Arimo"/>
                </a:rPr>
                <a:t>→</a:t>
              </a:r>
            </a:p>
          </p:txBody>
        </p:sp>
      </p:grpSp>
      <p:sp>
        <p:nvSpPr>
          <p:cNvPr name="TextBox 80" id="80"/>
          <p:cNvSpPr txBox="true"/>
          <p:nvPr/>
        </p:nvSpPr>
        <p:spPr>
          <a:xfrm rot="0">
            <a:off x="14752244" y="2491188"/>
            <a:ext cx="2557863" cy="2921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spc="215">
                <a:solidFill>
                  <a:srgbClr val="A2A2A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ACT</a:t>
            </a:r>
          </a:p>
        </p:txBody>
      </p:sp>
      <p:grpSp>
        <p:nvGrpSpPr>
          <p:cNvPr name="Group 81" id="81"/>
          <p:cNvGrpSpPr/>
          <p:nvPr/>
        </p:nvGrpSpPr>
        <p:grpSpPr>
          <a:xfrm rot="0">
            <a:off x="14723669" y="2900763"/>
            <a:ext cx="2538813" cy="1746247"/>
            <a:chOff x="0" y="0"/>
            <a:chExt cx="3385083" cy="2328329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3385058" cy="2328291"/>
            </a:xfrm>
            <a:custGeom>
              <a:avLst/>
              <a:gdLst/>
              <a:ahLst/>
              <a:cxnLst/>
              <a:rect r="r" b="b" t="t" l="l"/>
              <a:pathLst>
                <a:path h="2328291" w="3385058">
                  <a:moveTo>
                    <a:pt x="0" y="178435"/>
                  </a:moveTo>
                  <a:cubicBezTo>
                    <a:pt x="0" y="79883"/>
                    <a:pt x="79883" y="0"/>
                    <a:pt x="178435" y="0"/>
                  </a:cubicBezTo>
                  <a:lnTo>
                    <a:pt x="3206623" y="0"/>
                  </a:lnTo>
                  <a:cubicBezTo>
                    <a:pt x="3305175" y="0"/>
                    <a:pt x="3385058" y="79883"/>
                    <a:pt x="3385058" y="178435"/>
                  </a:cubicBezTo>
                  <a:lnTo>
                    <a:pt x="3385058" y="2149856"/>
                  </a:lnTo>
                  <a:cubicBezTo>
                    <a:pt x="3385058" y="2248408"/>
                    <a:pt x="3305175" y="2328291"/>
                    <a:pt x="3206623" y="2328291"/>
                  </a:cubicBezTo>
                  <a:lnTo>
                    <a:pt x="178435" y="2328291"/>
                  </a:lnTo>
                  <a:cubicBezTo>
                    <a:pt x="79883" y="2328291"/>
                    <a:pt x="0" y="2248408"/>
                    <a:pt x="0" y="2149856"/>
                  </a:cubicBezTo>
                  <a:close/>
                </a:path>
              </a:pathLst>
            </a:custGeom>
            <a:solidFill>
              <a:srgbClr val="F7F7F5"/>
            </a:solidFill>
            <a:ln w="6350" cap="sq">
              <a:solidFill>
                <a:srgbClr val="E6E5E1"/>
              </a:solidFill>
              <a:prstDash val="solid"/>
              <a:miter/>
            </a:ln>
          </p:spPr>
        </p:sp>
      </p:grpSp>
      <p:sp>
        <p:nvSpPr>
          <p:cNvPr name="TextBox 83" id="83"/>
          <p:cNvSpPr txBox="true"/>
          <p:nvPr/>
        </p:nvSpPr>
        <p:spPr>
          <a:xfrm rot="0">
            <a:off x="14949087" y="3107131"/>
            <a:ext cx="2164156" cy="628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 b="true">
                <a:solidFill>
                  <a:srgbClr val="141416"/>
                </a:solidFill>
                <a:latin typeface="Arimo Bold"/>
                <a:ea typeface="Arimo Bold"/>
                <a:cs typeface="Arimo Bold"/>
                <a:sym typeface="Arimo Bold"/>
              </a:rPr>
              <a:t>HMI-1 · Presenter HUD</a:t>
            </a:r>
          </a:p>
        </p:txBody>
      </p:sp>
      <p:sp>
        <p:nvSpPr>
          <p:cNvPr name="TextBox 84" id="84"/>
          <p:cNvSpPr txBox="true"/>
          <p:nvPr/>
        </p:nvSpPr>
        <p:spPr>
          <a:xfrm rot="0">
            <a:off x="14949087" y="3805638"/>
            <a:ext cx="2164156" cy="6540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>
                <a:solidFill>
                  <a:srgbClr val="6B6B70"/>
                </a:solidFill>
                <a:latin typeface="Arimo"/>
                <a:ea typeface="Arimo"/>
                <a:cs typeface="Arimo"/>
                <a:sym typeface="Arimo"/>
              </a:rPr>
              <a:t>Live coaching, in the moment</a:t>
            </a:r>
          </a:p>
        </p:txBody>
      </p:sp>
      <p:grpSp>
        <p:nvGrpSpPr>
          <p:cNvPr name="Group 85" id="85"/>
          <p:cNvGrpSpPr/>
          <p:nvPr/>
        </p:nvGrpSpPr>
        <p:grpSpPr>
          <a:xfrm rot="0">
            <a:off x="14723669" y="4774006"/>
            <a:ext cx="2538813" cy="3490512"/>
            <a:chOff x="0" y="0"/>
            <a:chExt cx="3385083" cy="4654017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3385185" cy="4654042"/>
            </a:xfrm>
            <a:custGeom>
              <a:avLst/>
              <a:gdLst/>
              <a:ahLst/>
              <a:cxnLst/>
              <a:rect r="r" b="b" t="t" l="l"/>
              <a:pathLst>
                <a:path h="4654042" w="3385185">
                  <a:moveTo>
                    <a:pt x="0" y="178308"/>
                  </a:moveTo>
                  <a:cubicBezTo>
                    <a:pt x="0" y="79756"/>
                    <a:pt x="79756" y="0"/>
                    <a:pt x="178308" y="0"/>
                  </a:cubicBezTo>
                  <a:lnTo>
                    <a:pt x="3206877" y="0"/>
                  </a:lnTo>
                  <a:cubicBezTo>
                    <a:pt x="3305302" y="0"/>
                    <a:pt x="3385185" y="79756"/>
                    <a:pt x="3385185" y="178308"/>
                  </a:cubicBezTo>
                  <a:lnTo>
                    <a:pt x="3385185" y="4475734"/>
                  </a:lnTo>
                  <a:cubicBezTo>
                    <a:pt x="3385185" y="4574159"/>
                    <a:pt x="3305429" y="4654042"/>
                    <a:pt x="3206877" y="4654042"/>
                  </a:cubicBezTo>
                  <a:lnTo>
                    <a:pt x="178308" y="4654042"/>
                  </a:lnTo>
                  <a:cubicBezTo>
                    <a:pt x="79756" y="4654042"/>
                    <a:pt x="0" y="4574159"/>
                    <a:pt x="0" y="4475734"/>
                  </a:cubicBezTo>
                  <a:close/>
                </a:path>
              </a:pathLst>
            </a:custGeom>
            <a:solidFill>
              <a:srgbClr val="141416"/>
            </a:solidFill>
            <a:ln w="6350" cap="sq">
              <a:solidFill>
                <a:srgbClr val="141416"/>
              </a:solidFill>
              <a:prstDash val="solid"/>
              <a:miter/>
            </a:ln>
          </p:spPr>
        </p:sp>
      </p:grpSp>
      <p:sp>
        <p:nvSpPr>
          <p:cNvPr name="TextBox 87" id="87"/>
          <p:cNvSpPr txBox="true"/>
          <p:nvPr/>
        </p:nvSpPr>
        <p:spPr>
          <a:xfrm rot="0">
            <a:off x="14949087" y="4980384"/>
            <a:ext cx="2164156" cy="628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PPT-B · Enriched deck</a:t>
            </a:r>
          </a:p>
        </p:txBody>
      </p:sp>
      <p:sp>
        <p:nvSpPr>
          <p:cNvPr name="TextBox 88" id="88"/>
          <p:cNvSpPr txBox="true"/>
          <p:nvPr/>
        </p:nvSpPr>
        <p:spPr>
          <a:xfrm rot="0">
            <a:off x="14949087" y="5678881"/>
            <a:ext cx="2164156" cy="9779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>
                <a:solidFill>
                  <a:srgbClr val="E6E6E6"/>
                </a:solidFill>
                <a:latin typeface="Arimo"/>
                <a:ea typeface="Arimo"/>
                <a:cs typeface="Arimo"/>
                <a:sym typeface="Arimo"/>
              </a:rPr>
              <a:t>The deck + the team's aggregated reactions</a:t>
            </a:r>
          </a:p>
        </p:txBody>
      </p:sp>
      <p:grpSp>
        <p:nvGrpSpPr>
          <p:cNvPr name="Group 89" id="89"/>
          <p:cNvGrpSpPr/>
          <p:nvPr/>
        </p:nvGrpSpPr>
        <p:grpSpPr>
          <a:xfrm rot="0">
            <a:off x="1028700" y="8642347"/>
            <a:ext cx="16230600" cy="9525"/>
            <a:chOff x="0" y="0"/>
            <a:chExt cx="21640800" cy="12700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21640800" cy="12700"/>
            </a:xfrm>
            <a:custGeom>
              <a:avLst/>
              <a:gdLst/>
              <a:ahLst/>
              <a:cxnLst/>
              <a:rect r="r" b="b" t="t" l="l"/>
              <a:pathLst>
                <a:path h="12700" w="21640800">
                  <a:moveTo>
                    <a:pt x="0" y="0"/>
                  </a:moveTo>
                  <a:lnTo>
                    <a:pt x="21640800" y="0"/>
                  </a:lnTo>
                  <a:lnTo>
                    <a:pt x="21640800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6E5E1"/>
            </a:solidFill>
          </p:spPr>
        </p:sp>
      </p:grpSp>
      <p:sp>
        <p:nvSpPr>
          <p:cNvPr name="TextBox 91" id="91"/>
          <p:cNvSpPr txBox="true"/>
          <p:nvPr/>
        </p:nvSpPr>
        <p:spPr>
          <a:xfrm rot="0">
            <a:off x="1054103" y="8902703"/>
            <a:ext cx="15666530" cy="5969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spc="72">
                <a:solidFill>
                  <a:srgbClr val="A2A2A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Stack — AMD MI300X · ROCm · vLLM (Qwen2.5-7B) · MediaPipe · faster-whisper · asyncio bus · aiohttp · pypdfium2</a:t>
            </a:r>
          </a:p>
        </p:txBody>
      </p:sp>
      <p:sp>
        <p:nvSpPr>
          <p:cNvPr name="TextBox 92" id="92"/>
          <p:cNvSpPr txBox="true"/>
          <p:nvPr/>
        </p:nvSpPr>
        <p:spPr>
          <a:xfrm rot="0">
            <a:off x="16313648" y="8902703"/>
            <a:ext cx="996458" cy="5969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spc="72">
                <a:solidFill>
                  <a:srgbClr val="A2A2A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03 / 05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904875"/>
            <a:ext cx="95250" cy="95250"/>
            <a:chOff x="0" y="0"/>
            <a:chExt cx="127000" cy="127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7000" cy="127000"/>
            </a:xfrm>
            <a:custGeom>
              <a:avLst/>
              <a:gdLst/>
              <a:ahLst/>
              <a:cxnLst/>
              <a:rect r="r" b="b" t="t" l="l"/>
              <a:pathLst>
                <a:path h="127000" w="127000">
                  <a:moveTo>
                    <a:pt x="0" y="63500"/>
                  </a:moveTo>
                  <a:cubicBezTo>
                    <a:pt x="0" y="28448"/>
                    <a:pt x="28448" y="0"/>
                    <a:pt x="63500" y="0"/>
                  </a:cubicBezTo>
                  <a:cubicBezTo>
                    <a:pt x="98552" y="0"/>
                    <a:pt x="127000" y="28448"/>
                    <a:pt x="127000" y="63500"/>
                  </a:cubicBezTo>
                  <a:cubicBezTo>
                    <a:pt x="127000" y="98552"/>
                    <a:pt x="98552" y="127000"/>
                    <a:pt x="63500" y="127000"/>
                  </a:cubicBezTo>
                  <a:cubicBezTo>
                    <a:pt x="28448" y="127000"/>
                    <a:pt x="0" y="98552"/>
                    <a:pt x="0" y="63500"/>
                  </a:cubicBezTo>
                  <a:close/>
                </a:path>
              </a:pathLst>
            </a:custGeom>
            <a:solidFill>
              <a:srgbClr val="141416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1282703" y="825503"/>
            <a:ext cx="2586352" cy="2921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spc="359">
                <a:solidFill>
                  <a:srgbClr val="6B6B7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MODEL INSIGHTS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54103" y="1282703"/>
            <a:ext cx="16666721" cy="7576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39"/>
              </a:lnSpc>
            </a:pPr>
            <a:r>
              <a:rPr lang="en-US" b="true" sz="5400" spc="-108">
                <a:solidFill>
                  <a:srgbClr val="141416"/>
                </a:solidFill>
                <a:latin typeface="Arimo Bold"/>
                <a:ea typeface="Arimo Bold"/>
                <a:cs typeface="Arimo Bold"/>
                <a:sym typeface="Arimo Bold"/>
              </a:rPr>
              <a:t>One mid-size LLM serves the whole room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54103" y="2510238"/>
            <a:ext cx="2722369" cy="8064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59"/>
              </a:lnSpc>
            </a:pPr>
            <a:r>
              <a:rPr lang="en-US" b="true" sz="6300" spc="-189">
                <a:solidFill>
                  <a:srgbClr val="141416"/>
                </a:solidFill>
                <a:latin typeface="Arimo Bold"/>
                <a:ea typeface="Arimo Bold"/>
                <a:cs typeface="Arimo Bold"/>
                <a:sym typeface="Arimo Bold"/>
              </a:rPr>
              <a:t>2.6 </a:t>
            </a:r>
            <a:r>
              <a:rPr lang="en-US" b="true" sz="6300" spc="-189">
                <a:solidFill>
                  <a:srgbClr val="6B6B70"/>
                </a:solidFill>
                <a:latin typeface="Arimo Bold"/>
                <a:ea typeface="Arimo Bold"/>
                <a:cs typeface="Arimo Bold"/>
                <a:sym typeface="Arimo Bold"/>
              </a:rPr>
              <a:t>s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028700" y="3570684"/>
            <a:ext cx="76200" cy="76200"/>
            <a:chOff x="0" y="0"/>
            <a:chExt cx="101600" cy="1016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01600" cy="101600"/>
            </a:xfrm>
            <a:custGeom>
              <a:avLst/>
              <a:gdLst/>
              <a:ahLst/>
              <a:cxnLst/>
              <a:rect r="r" b="b" t="t" l="l"/>
              <a:pathLst>
                <a:path h="101600" w="101600">
                  <a:moveTo>
                    <a:pt x="0" y="50800"/>
                  </a:moveTo>
                  <a:cubicBezTo>
                    <a:pt x="0" y="22733"/>
                    <a:pt x="22733" y="0"/>
                    <a:pt x="50800" y="0"/>
                  </a:cubicBezTo>
                  <a:cubicBezTo>
                    <a:pt x="78867" y="0"/>
                    <a:pt x="101600" y="22733"/>
                    <a:pt x="101600" y="50800"/>
                  </a:cubicBezTo>
                  <a:cubicBezTo>
                    <a:pt x="101600" y="78867"/>
                    <a:pt x="78867" y="101600"/>
                    <a:pt x="50800" y="101600"/>
                  </a:cubicBezTo>
                  <a:cubicBezTo>
                    <a:pt x="22733" y="101600"/>
                    <a:pt x="0" y="78867"/>
                    <a:pt x="0" y="50800"/>
                  </a:cubicBezTo>
                  <a:close/>
                </a:path>
              </a:pathLst>
            </a:custGeom>
            <a:solidFill>
              <a:srgbClr val="141416"/>
            </a:solidFill>
          </p:spPr>
        </p:sp>
      </p:grpSp>
      <p:sp>
        <p:nvSpPr>
          <p:cNvPr name="TextBox 9" id="9"/>
          <p:cNvSpPr txBox="true"/>
          <p:nvPr/>
        </p:nvSpPr>
        <p:spPr>
          <a:xfrm rot="0">
            <a:off x="1216028" y="3481788"/>
            <a:ext cx="1808559" cy="2921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6B6B7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dip detection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4064003" y="2503884"/>
            <a:ext cx="9525" cy="1257300"/>
            <a:chOff x="0" y="0"/>
            <a:chExt cx="12700" cy="16764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2700" cy="1676400"/>
            </a:xfrm>
            <a:custGeom>
              <a:avLst/>
              <a:gdLst/>
              <a:ahLst/>
              <a:cxnLst/>
              <a:rect r="r" b="b" t="t" l="l"/>
              <a:pathLst>
                <a:path h="1676400" w="12700">
                  <a:moveTo>
                    <a:pt x="0" y="0"/>
                  </a:moveTo>
                  <a:lnTo>
                    <a:pt x="12700" y="0"/>
                  </a:lnTo>
                  <a:lnTo>
                    <a:pt x="12700" y="1676400"/>
                  </a:lnTo>
                  <a:lnTo>
                    <a:pt x="0" y="1676400"/>
                  </a:lnTo>
                  <a:close/>
                </a:path>
              </a:pathLst>
            </a:custGeom>
            <a:solidFill>
              <a:srgbClr val="E6E5E1"/>
            </a:solid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4438650" y="2510238"/>
            <a:ext cx="2722369" cy="8064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59"/>
              </a:lnSpc>
            </a:pPr>
            <a:r>
              <a:rPr lang="en-US" b="true" sz="6300" spc="-189">
                <a:solidFill>
                  <a:srgbClr val="141416"/>
                </a:solidFill>
                <a:latin typeface="Arimo Bold"/>
                <a:ea typeface="Arimo Bold"/>
                <a:cs typeface="Arimo Bold"/>
                <a:sym typeface="Arimo Bold"/>
              </a:rPr>
              <a:t>0.4 </a:t>
            </a:r>
            <a:r>
              <a:rPr lang="en-US" b="true" sz="6300" spc="-189">
                <a:solidFill>
                  <a:srgbClr val="6B6B70"/>
                </a:solidFill>
                <a:latin typeface="Arimo Bold"/>
                <a:ea typeface="Arimo Bold"/>
                <a:cs typeface="Arimo Bold"/>
                <a:sym typeface="Arimo Bold"/>
              </a:rPr>
              <a:t>s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4413247" y="3570684"/>
            <a:ext cx="76200" cy="76200"/>
            <a:chOff x="0" y="0"/>
            <a:chExt cx="101600" cy="1016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01600" cy="101600"/>
            </a:xfrm>
            <a:custGeom>
              <a:avLst/>
              <a:gdLst/>
              <a:ahLst/>
              <a:cxnLst/>
              <a:rect r="r" b="b" t="t" l="l"/>
              <a:pathLst>
                <a:path h="101600" w="101600">
                  <a:moveTo>
                    <a:pt x="0" y="50800"/>
                  </a:moveTo>
                  <a:cubicBezTo>
                    <a:pt x="0" y="22733"/>
                    <a:pt x="22733" y="0"/>
                    <a:pt x="50800" y="0"/>
                  </a:cubicBezTo>
                  <a:cubicBezTo>
                    <a:pt x="78867" y="0"/>
                    <a:pt x="101600" y="22733"/>
                    <a:pt x="101600" y="50800"/>
                  </a:cubicBezTo>
                  <a:cubicBezTo>
                    <a:pt x="101600" y="78867"/>
                    <a:pt x="78867" y="101600"/>
                    <a:pt x="50800" y="101600"/>
                  </a:cubicBezTo>
                  <a:cubicBezTo>
                    <a:pt x="22733" y="101600"/>
                    <a:pt x="0" y="78867"/>
                    <a:pt x="0" y="50800"/>
                  </a:cubicBezTo>
                  <a:close/>
                </a:path>
              </a:pathLst>
            </a:custGeom>
            <a:solidFill>
              <a:srgbClr val="141416"/>
            </a:solid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4600575" y="3481788"/>
            <a:ext cx="2494359" cy="2921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6B6B7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question surfacing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7448550" y="2503884"/>
            <a:ext cx="9525" cy="1257300"/>
            <a:chOff x="0" y="0"/>
            <a:chExt cx="12700" cy="16764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2700" cy="1676400"/>
            </a:xfrm>
            <a:custGeom>
              <a:avLst/>
              <a:gdLst/>
              <a:ahLst/>
              <a:cxnLst/>
              <a:rect r="r" b="b" t="t" l="l"/>
              <a:pathLst>
                <a:path h="1676400" w="12700">
                  <a:moveTo>
                    <a:pt x="0" y="0"/>
                  </a:moveTo>
                  <a:lnTo>
                    <a:pt x="12700" y="0"/>
                  </a:lnTo>
                  <a:lnTo>
                    <a:pt x="12700" y="1676400"/>
                  </a:lnTo>
                  <a:lnTo>
                    <a:pt x="0" y="1676400"/>
                  </a:lnTo>
                  <a:close/>
                </a:path>
              </a:pathLst>
            </a:custGeom>
            <a:solidFill>
              <a:srgbClr val="E6E5E1"/>
            </a:solid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7823197" y="2510238"/>
            <a:ext cx="2722369" cy="8064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59"/>
              </a:lnSpc>
            </a:pPr>
            <a:r>
              <a:rPr lang="en-US" b="true" sz="6300" spc="-189">
                <a:solidFill>
                  <a:srgbClr val="141416"/>
                </a:solidFill>
                <a:latin typeface="Arimo Bold"/>
                <a:ea typeface="Arimo Bold"/>
                <a:cs typeface="Arimo Bold"/>
                <a:sym typeface="Arimo Bold"/>
              </a:rPr>
              <a:t>&lt;4 </a:t>
            </a:r>
            <a:r>
              <a:rPr lang="en-US" b="true" sz="6300" spc="-189">
                <a:solidFill>
                  <a:srgbClr val="6B6B70"/>
                </a:solidFill>
                <a:latin typeface="Arimo Bold"/>
                <a:ea typeface="Arimo Bold"/>
                <a:cs typeface="Arimo Bold"/>
                <a:sym typeface="Arimo Bold"/>
              </a:rPr>
              <a:t>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7823197" y="3481788"/>
            <a:ext cx="2722369" cy="2921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A2A2A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end-to-end target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10833097" y="2503884"/>
            <a:ext cx="9525" cy="1257300"/>
            <a:chOff x="0" y="0"/>
            <a:chExt cx="12700" cy="16764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2700" cy="1676400"/>
            </a:xfrm>
            <a:custGeom>
              <a:avLst/>
              <a:gdLst/>
              <a:ahLst/>
              <a:cxnLst/>
              <a:rect r="r" b="b" t="t" l="l"/>
              <a:pathLst>
                <a:path h="1676400" w="12700">
                  <a:moveTo>
                    <a:pt x="0" y="0"/>
                  </a:moveTo>
                  <a:lnTo>
                    <a:pt x="12700" y="0"/>
                  </a:lnTo>
                  <a:lnTo>
                    <a:pt x="12700" y="1676400"/>
                  </a:lnTo>
                  <a:lnTo>
                    <a:pt x="0" y="1676400"/>
                  </a:lnTo>
                  <a:close/>
                </a:path>
              </a:pathLst>
            </a:custGeom>
            <a:solidFill>
              <a:srgbClr val="E6E5E1"/>
            </a:solidFill>
          </p:spPr>
        </p:sp>
      </p:grpSp>
      <p:sp>
        <p:nvSpPr>
          <p:cNvPr name="TextBox 22" id="22"/>
          <p:cNvSpPr txBox="true"/>
          <p:nvPr/>
        </p:nvSpPr>
        <p:spPr>
          <a:xfrm rot="0">
            <a:off x="11207753" y="2510238"/>
            <a:ext cx="2722369" cy="8064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59"/>
              </a:lnSpc>
            </a:pPr>
            <a:r>
              <a:rPr lang="en-US" b="true" sz="6300" spc="-189">
                <a:solidFill>
                  <a:srgbClr val="141416"/>
                </a:solidFill>
                <a:latin typeface="Arimo Bold"/>
                <a:ea typeface="Arimo Bold"/>
                <a:cs typeface="Arimo Bold"/>
                <a:sym typeface="Arimo Bold"/>
              </a:rPr>
              <a:t>0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11182350" y="3570684"/>
            <a:ext cx="76200" cy="76200"/>
            <a:chOff x="0" y="0"/>
            <a:chExt cx="101600" cy="1016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01600" cy="101600"/>
            </a:xfrm>
            <a:custGeom>
              <a:avLst/>
              <a:gdLst/>
              <a:ahLst/>
              <a:cxnLst/>
              <a:rect r="r" b="b" t="t" l="l"/>
              <a:pathLst>
                <a:path h="101600" w="101600">
                  <a:moveTo>
                    <a:pt x="0" y="50800"/>
                  </a:moveTo>
                  <a:cubicBezTo>
                    <a:pt x="0" y="22733"/>
                    <a:pt x="22733" y="0"/>
                    <a:pt x="50800" y="0"/>
                  </a:cubicBezTo>
                  <a:cubicBezTo>
                    <a:pt x="78867" y="0"/>
                    <a:pt x="101600" y="22733"/>
                    <a:pt x="101600" y="50800"/>
                  </a:cubicBezTo>
                  <a:cubicBezTo>
                    <a:pt x="101600" y="78867"/>
                    <a:pt x="78867" y="101600"/>
                    <a:pt x="50800" y="101600"/>
                  </a:cubicBezTo>
                  <a:cubicBezTo>
                    <a:pt x="22733" y="101600"/>
                    <a:pt x="0" y="78867"/>
                    <a:pt x="0" y="50800"/>
                  </a:cubicBezTo>
                  <a:close/>
                </a:path>
              </a:pathLst>
            </a:custGeom>
            <a:solidFill>
              <a:srgbClr val="141416"/>
            </a:solidFill>
          </p:spPr>
        </p:sp>
      </p:grpSp>
      <p:sp>
        <p:nvSpPr>
          <p:cNvPr name="TextBox 25" id="25"/>
          <p:cNvSpPr txBox="true"/>
          <p:nvPr/>
        </p:nvSpPr>
        <p:spPr>
          <a:xfrm rot="0">
            <a:off x="11369678" y="3481788"/>
            <a:ext cx="2082898" cy="2921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6B6B7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false positives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14217653" y="2503884"/>
            <a:ext cx="9525" cy="1257300"/>
            <a:chOff x="0" y="0"/>
            <a:chExt cx="12700" cy="16764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2700" cy="1676400"/>
            </a:xfrm>
            <a:custGeom>
              <a:avLst/>
              <a:gdLst/>
              <a:ahLst/>
              <a:cxnLst/>
              <a:rect r="r" b="b" t="t" l="l"/>
              <a:pathLst>
                <a:path h="1676400" w="12700">
                  <a:moveTo>
                    <a:pt x="0" y="0"/>
                  </a:moveTo>
                  <a:lnTo>
                    <a:pt x="12700" y="0"/>
                  </a:lnTo>
                  <a:lnTo>
                    <a:pt x="12700" y="1676400"/>
                  </a:lnTo>
                  <a:lnTo>
                    <a:pt x="0" y="1676400"/>
                  </a:lnTo>
                  <a:close/>
                </a:path>
              </a:pathLst>
            </a:custGeom>
            <a:solidFill>
              <a:srgbClr val="E6E5E1"/>
            </a:solidFill>
          </p:spPr>
        </p:sp>
      </p:grpSp>
      <p:sp>
        <p:nvSpPr>
          <p:cNvPr name="TextBox 28" id="28"/>
          <p:cNvSpPr txBox="true"/>
          <p:nvPr/>
        </p:nvSpPr>
        <p:spPr>
          <a:xfrm rot="0">
            <a:off x="14592300" y="2510238"/>
            <a:ext cx="2722369" cy="8064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59"/>
              </a:lnSpc>
            </a:pPr>
            <a:r>
              <a:rPr lang="en-US" b="true" sz="6300" spc="-189">
                <a:solidFill>
                  <a:srgbClr val="141416"/>
                </a:solidFill>
                <a:latin typeface="Arimo Bold"/>
                <a:ea typeface="Arimo Bold"/>
                <a:cs typeface="Arimo Bold"/>
                <a:sym typeface="Arimo Bold"/>
              </a:rPr>
              <a:t>≤700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4592300" y="3481788"/>
            <a:ext cx="2722369" cy="2921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A2A2A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tokens / room state</a:t>
            </a:r>
          </a:p>
        </p:txBody>
      </p:sp>
      <p:grpSp>
        <p:nvGrpSpPr>
          <p:cNvPr name="Group 30" id="30"/>
          <p:cNvGrpSpPr/>
          <p:nvPr/>
        </p:nvGrpSpPr>
        <p:grpSpPr>
          <a:xfrm rot="0">
            <a:off x="1028700" y="4294584"/>
            <a:ext cx="16230600" cy="9525"/>
            <a:chOff x="0" y="0"/>
            <a:chExt cx="21640800" cy="127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21640800" cy="12700"/>
            </a:xfrm>
            <a:custGeom>
              <a:avLst/>
              <a:gdLst/>
              <a:ahLst/>
              <a:cxnLst/>
              <a:rect r="r" b="b" t="t" l="l"/>
              <a:pathLst>
                <a:path h="12700" w="21640800">
                  <a:moveTo>
                    <a:pt x="0" y="0"/>
                  </a:moveTo>
                  <a:lnTo>
                    <a:pt x="21640800" y="0"/>
                  </a:lnTo>
                  <a:lnTo>
                    <a:pt x="21640800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6E5E1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9140828" y="4720038"/>
            <a:ext cx="9525" cy="3579419"/>
            <a:chOff x="0" y="0"/>
            <a:chExt cx="12700" cy="4772558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2700" cy="4772533"/>
            </a:xfrm>
            <a:custGeom>
              <a:avLst/>
              <a:gdLst/>
              <a:ahLst/>
              <a:cxnLst/>
              <a:rect r="r" b="b" t="t" l="l"/>
              <a:pathLst>
                <a:path h="4772533" w="12700">
                  <a:moveTo>
                    <a:pt x="0" y="0"/>
                  </a:moveTo>
                  <a:lnTo>
                    <a:pt x="12700" y="0"/>
                  </a:lnTo>
                  <a:lnTo>
                    <a:pt x="12700" y="4772533"/>
                  </a:lnTo>
                  <a:lnTo>
                    <a:pt x="0" y="4772533"/>
                  </a:lnTo>
                  <a:close/>
                </a:path>
              </a:pathLst>
            </a:custGeom>
            <a:solidFill>
              <a:srgbClr val="E6E5E1"/>
            </a:solidFill>
          </p:spPr>
        </p:sp>
      </p:grpSp>
      <p:sp>
        <p:nvSpPr>
          <p:cNvPr name="TextBox 34" id="34"/>
          <p:cNvSpPr txBox="true"/>
          <p:nvPr/>
        </p:nvSpPr>
        <p:spPr>
          <a:xfrm rot="0">
            <a:off x="1054103" y="4745431"/>
            <a:ext cx="7716041" cy="2921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spc="252">
                <a:solidFill>
                  <a:srgbClr val="A2A2A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MODELS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054103" y="5278831"/>
            <a:ext cx="7716041" cy="3302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 b="true">
                <a:solidFill>
                  <a:srgbClr val="141416"/>
                </a:solidFill>
                <a:latin typeface="Arimo Bold"/>
                <a:ea typeface="Arimo Bold"/>
                <a:cs typeface="Arimo Bold"/>
                <a:sym typeface="Arimo Bold"/>
              </a:rPr>
              <a:t>Qwen2.5-7B-Instruct</a:t>
            </a:r>
            <a:r>
              <a:rPr lang="en-US" sz="1950">
                <a:solidFill>
                  <a:srgbClr val="6B6B70"/>
                </a:solidFill>
                <a:latin typeface="Arimo"/>
                <a:ea typeface="Arimo"/>
                <a:cs typeface="Arimo"/>
                <a:sym typeface="Arimo"/>
              </a:rPr>
              <a:t>— agent reasoning · vLLM on ROCm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054103" y="5812231"/>
            <a:ext cx="7716041" cy="3302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 b="true">
                <a:solidFill>
                  <a:srgbClr val="141416"/>
                </a:solidFill>
                <a:latin typeface="Arimo Bold"/>
                <a:ea typeface="Arimo Bold"/>
                <a:cs typeface="Arimo Bold"/>
                <a:sym typeface="Arimo Bold"/>
              </a:rPr>
              <a:t>faster-whisper (int8, CPU)</a:t>
            </a:r>
            <a:r>
              <a:rPr lang="en-US" sz="1950">
                <a:solidFill>
                  <a:srgbClr val="6B6B70"/>
                </a:solidFill>
                <a:latin typeface="Arimo"/>
                <a:ea typeface="Arimo"/>
                <a:cs typeface="Arimo"/>
                <a:sym typeface="Arimo"/>
              </a:rPr>
              <a:t>— ASR, keeps the GPU free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054103" y="6345631"/>
            <a:ext cx="7716041" cy="3302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 b="true">
                <a:solidFill>
                  <a:srgbClr val="141416"/>
                </a:solidFill>
                <a:latin typeface="Arimo Bold"/>
                <a:ea typeface="Arimo Bold"/>
                <a:cs typeface="Arimo Bold"/>
                <a:sym typeface="Arimo Bold"/>
              </a:rPr>
              <a:t>MediaPipe FaceMesh + PnP</a:t>
            </a:r>
            <a:r>
              <a:rPr lang="en-US" sz="1950">
                <a:solidFill>
                  <a:srgbClr val="6B6B70"/>
                </a:solidFill>
                <a:latin typeface="Arimo"/>
                <a:ea typeface="Arimo"/>
                <a:cs typeface="Arimo"/>
                <a:sym typeface="Arimo"/>
              </a:rPr>
              <a:t>— attention, CPU, no CUDA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9744075" y="4745431"/>
            <a:ext cx="7716041" cy="2921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spc="252">
                <a:solidFill>
                  <a:srgbClr val="A2A2A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RIGHT-SIZING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9744075" y="5221681"/>
            <a:ext cx="7716041" cy="9626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48"/>
              </a:lnSpc>
            </a:pPr>
            <a:r>
              <a:rPr lang="en-US" sz="3000">
                <a:solidFill>
                  <a:srgbClr val="141416"/>
                </a:solidFill>
                <a:latin typeface="Arimo"/>
                <a:ea typeface="Arimo"/>
                <a:cs typeface="Arimo"/>
                <a:sym typeface="Arimo"/>
              </a:rPr>
              <a:t>~16 GB weights + 4–8 GB KV → fits a 24 GB-class GPU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9744075" y="6263678"/>
            <a:ext cx="7716041" cy="11320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76"/>
              </a:lnSpc>
            </a:pPr>
            <a:r>
              <a:rPr lang="en-US" sz="1950">
                <a:solidFill>
                  <a:srgbClr val="6B6B70"/>
                </a:solidFill>
                <a:latin typeface="Arimo"/>
                <a:ea typeface="Arimo"/>
                <a:cs typeface="Arimo"/>
                <a:sym typeface="Arimo"/>
              </a:rPr>
              <a:t>Perception runs on CPU. The MI300X's 192 GB is roadmap headroom — Qwen2.5-VL screen understanding on the same server — not a requirement.</a:t>
            </a:r>
          </a:p>
        </p:txBody>
      </p:sp>
      <p:grpSp>
        <p:nvGrpSpPr>
          <p:cNvPr name="Group 41" id="41"/>
          <p:cNvGrpSpPr/>
          <p:nvPr/>
        </p:nvGrpSpPr>
        <p:grpSpPr>
          <a:xfrm rot="0">
            <a:off x="1028700" y="8642347"/>
            <a:ext cx="16230600" cy="9525"/>
            <a:chOff x="0" y="0"/>
            <a:chExt cx="21640800" cy="1270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21640800" cy="12700"/>
            </a:xfrm>
            <a:custGeom>
              <a:avLst/>
              <a:gdLst/>
              <a:ahLst/>
              <a:cxnLst/>
              <a:rect r="r" b="b" t="t" l="l"/>
              <a:pathLst>
                <a:path h="12700" w="21640800">
                  <a:moveTo>
                    <a:pt x="0" y="0"/>
                  </a:moveTo>
                  <a:lnTo>
                    <a:pt x="21640800" y="0"/>
                  </a:lnTo>
                  <a:lnTo>
                    <a:pt x="21640800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6E5E1"/>
            </a:solidFill>
          </p:spPr>
        </p:sp>
      </p:grpSp>
      <p:sp>
        <p:nvSpPr>
          <p:cNvPr name="TextBox 43" id="43"/>
          <p:cNvSpPr txBox="true"/>
          <p:nvPr/>
        </p:nvSpPr>
        <p:spPr>
          <a:xfrm rot="0">
            <a:off x="1054103" y="8902703"/>
            <a:ext cx="15773429" cy="5969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spc="72">
                <a:solidFill>
                  <a:srgbClr val="A2A2A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Scenario A ≈ 2.3K + 0.3K tok (2 calls) · Scenario B ≈ 10–15K tok (9-min session) · slide match 5/5 @ 0.99 · ● measured today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6417433" y="8902703"/>
            <a:ext cx="892673" cy="5969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spc="72">
                <a:solidFill>
                  <a:srgbClr val="A2A2A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04 / 05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904875"/>
            <a:ext cx="95250" cy="95250"/>
            <a:chOff x="0" y="0"/>
            <a:chExt cx="127000" cy="127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7000" cy="127000"/>
            </a:xfrm>
            <a:custGeom>
              <a:avLst/>
              <a:gdLst/>
              <a:ahLst/>
              <a:cxnLst/>
              <a:rect r="r" b="b" t="t" l="l"/>
              <a:pathLst>
                <a:path h="127000" w="127000">
                  <a:moveTo>
                    <a:pt x="0" y="63500"/>
                  </a:moveTo>
                  <a:cubicBezTo>
                    <a:pt x="0" y="28448"/>
                    <a:pt x="28448" y="0"/>
                    <a:pt x="63500" y="0"/>
                  </a:cubicBezTo>
                  <a:cubicBezTo>
                    <a:pt x="98552" y="0"/>
                    <a:pt x="127000" y="28448"/>
                    <a:pt x="127000" y="63500"/>
                  </a:cubicBezTo>
                  <a:cubicBezTo>
                    <a:pt x="127000" y="98552"/>
                    <a:pt x="98552" y="127000"/>
                    <a:pt x="63500" y="127000"/>
                  </a:cubicBezTo>
                  <a:cubicBezTo>
                    <a:pt x="28448" y="127000"/>
                    <a:pt x="0" y="98552"/>
                    <a:pt x="0" y="63500"/>
                  </a:cubicBezTo>
                  <a:close/>
                </a:path>
              </a:pathLst>
            </a:custGeom>
            <a:solidFill>
              <a:srgbClr val="141416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1282703" y="825503"/>
            <a:ext cx="2402881" cy="2921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spc="359">
                <a:solidFill>
                  <a:srgbClr val="6B6B7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IMPACT &amp; DEMO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54103" y="1282703"/>
            <a:ext cx="16666721" cy="7576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39"/>
              </a:lnSpc>
            </a:pPr>
            <a:r>
              <a:rPr lang="en-US" b="true" sz="5400" spc="-108">
                <a:solidFill>
                  <a:srgbClr val="141416"/>
                </a:solidFill>
                <a:latin typeface="Arimo Bold"/>
                <a:ea typeface="Arimo Bold"/>
                <a:cs typeface="Arimo Bold"/>
                <a:sym typeface="Arimo Bold"/>
              </a:rPr>
              <a:t>A companion, not a dashboard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9137647" y="2503884"/>
            <a:ext cx="9525" cy="6443262"/>
            <a:chOff x="0" y="0"/>
            <a:chExt cx="12700" cy="859101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2700" cy="8591042"/>
            </a:xfrm>
            <a:custGeom>
              <a:avLst/>
              <a:gdLst/>
              <a:ahLst/>
              <a:cxnLst/>
              <a:rect r="r" b="b" t="t" l="l"/>
              <a:pathLst>
                <a:path h="8591042" w="12700">
                  <a:moveTo>
                    <a:pt x="0" y="0"/>
                  </a:moveTo>
                  <a:lnTo>
                    <a:pt x="12700" y="0"/>
                  </a:lnTo>
                  <a:lnTo>
                    <a:pt x="12700" y="8591042"/>
                  </a:lnTo>
                  <a:lnTo>
                    <a:pt x="0" y="8591042"/>
                  </a:lnTo>
                  <a:close/>
                </a:path>
              </a:pathLst>
            </a:custGeom>
            <a:solidFill>
              <a:srgbClr val="E6E5E1"/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1054103" y="2529288"/>
            <a:ext cx="7673530" cy="2921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spc="252">
                <a:solidFill>
                  <a:srgbClr val="A2A2A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WHAT CHANGES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54103" y="3053163"/>
            <a:ext cx="7673530" cy="4958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76"/>
              </a:lnSpc>
            </a:pPr>
            <a:r>
              <a:rPr lang="en-US" sz="3000">
                <a:solidFill>
                  <a:srgbClr val="141416"/>
                </a:solidFill>
                <a:latin typeface="Arimo"/>
                <a:ea typeface="Arimo"/>
                <a:cs typeface="Arimo"/>
                <a:sym typeface="Arimo"/>
              </a:rPr>
              <a:t>Feedback latency: weeks → seconds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54103" y="3742734"/>
            <a:ext cx="7673530" cy="7854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76"/>
              </a:lnSpc>
            </a:pPr>
            <a:r>
              <a:rPr lang="en-US" sz="1950">
                <a:solidFill>
                  <a:srgbClr val="141416"/>
                </a:solidFill>
                <a:latin typeface="Arimo"/>
                <a:ea typeface="Arimo"/>
                <a:cs typeface="Arimo"/>
                <a:sym typeface="Arimo"/>
              </a:rPr>
              <a:t>Zero lost inputs. </a:t>
            </a:r>
            <a:r>
              <a:rPr lang="en-US" sz="1950">
                <a:solidFill>
                  <a:srgbClr val="6B6B70"/>
                </a:solidFill>
                <a:latin typeface="Arimo"/>
                <a:ea typeface="Arimo"/>
                <a:cs typeface="Arimo"/>
                <a:sym typeface="Arimo"/>
              </a:rPr>
              <a:t>Every question is surfaced live or logged as </a:t>
            </a:r>
            <a:r>
              <a:rPr lang="en-US" sz="1950">
                <a:solidFill>
                  <a:srgbClr val="141416"/>
                </a:solidFill>
                <a:latin typeface="Arimo"/>
                <a:ea typeface="Arimo"/>
                <a:cs typeface="Arimo"/>
                <a:sym typeface="Arimo"/>
              </a:rPr>
              <a:t>unresolved </a:t>
            </a:r>
            <a:r>
              <a:rPr lang="en-US" sz="1950">
                <a:solidFill>
                  <a:srgbClr val="6B6B70"/>
                </a:solidFill>
                <a:latin typeface="Arimo"/>
                <a:ea typeface="Arimo"/>
                <a:cs typeface="Arimo"/>
                <a:sym typeface="Arimo"/>
              </a:rPr>
              <a:t>in PPT-B — institutional memory by default.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54103" y="4721819"/>
            <a:ext cx="7673530" cy="7854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76"/>
              </a:lnSpc>
            </a:pPr>
            <a:r>
              <a:rPr lang="en-US" sz="1950">
                <a:solidFill>
                  <a:srgbClr val="141416"/>
                </a:solidFill>
                <a:latin typeface="Arimo"/>
                <a:ea typeface="Arimo"/>
                <a:cs typeface="Arimo"/>
                <a:sym typeface="Arimo"/>
              </a:rPr>
              <a:t>Per-slide analytics. </a:t>
            </a:r>
            <a:r>
              <a:rPr lang="en-US" sz="1950">
                <a:solidFill>
                  <a:srgbClr val="6B6B70"/>
                </a:solidFill>
                <a:latin typeface="Arimo"/>
                <a:ea typeface="Arimo"/>
                <a:cs typeface="Arimo"/>
                <a:sym typeface="Arimo"/>
              </a:rPr>
              <a:t>Engagement data so content improves between sessions.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54103" y="5700913"/>
            <a:ext cx="7673530" cy="7854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76"/>
              </a:lnSpc>
            </a:pPr>
            <a:r>
              <a:rPr lang="en-US" sz="1950">
                <a:solidFill>
                  <a:srgbClr val="141416"/>
                </a:solidFill>
                <a:latin typeface="Arimo"/>
                <a:ea typeface="Arimo"/>
                <a:cs typeface="Arimo"/>
                <a:sym typeface="Arimo"/>
              </a:rPr>
              <a:t>Privacy by architecture. </a:t>
            </a:r>
            <a:r>
              <a:rPr lang="en-US" sz="1950">
                <a:solidFill>
                  <a:srgbClr val="6B6B70"/>
                </a:solidFill>
                <a:latin typeface="Arimo"/>
                <a:ea typeface="Arimo"/>
                <a:cs typeface="Arimo"/>
                <a:sym typeface="Arimo"/>
              </a:rPr>
              <a:t>Anonymous tracklets, no pixels to the LLM — deployable where cameras are sensitive.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779003" y="2529288"/>
            <a:ext cx="7680074" cy="2921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spc="252">
                <a:solidFill>
                  <a:srgbClr val="A2A2A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WATCH FOR · THE DEMO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779003" y="3138888"/>
            <a:ext cx="299742" cy="2921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14141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01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243842" y="3024588"/>
            <a:ext cx="7201291" cy="7560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2"/>
              </a:lnSpc>
            </a:pPr>
            <a:r>
              <a:rPr lang="en-US" sz="1950">
                <a:solidFill>
                  <a:srgbClr val="141416"/>
                </a:solidFill>
                <a:latin typeface="Arimo"/>
                <a:ea typeface="Arimo"/>
                <a:cs typeface="Arimo"/>
                <a:sym typeface="Arimo"/>
              </a:rPr>
              <a:t>Engagement collapses </a:t>
            </a:r>
            <a:r>
              <a:rPr lang="en-US" sz="1950">
                <a:solidFill>
                  <a:srgbClr val="6B6B70"/>
                </a:solidFill>
                <a:latin typeface="Arimo"/>
                <a:ea typeface="Arimo"/>
                <a:cs typeface="Arimo"/>
                <a:sym typeface="Arimo"/>
              </a:rPr>
              <a:t>→ the Analyst diagnoses the cause → the Coach nudges → the presenter recovers on camera.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779003" y="4040981"/>
            <a:ext cx="299742" cy="2921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14141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02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243842" y="3926681"/>
            <a:ext cx="7201291" cy="7560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2"/>
              </a:lnSpc>
            </a:pPr>
            <a:r>
              <a:rPr lang="en-US" sz="1950">
                <a:solidFill>
                  <a:srgbClr val="141416"/>
                </a:solidFill>
                <a:latin typeface="Arimo"/>
                <a:ea typeface="Arimo"/>
                <a:cs typeface="Arimo"/>
                <a:sym typeface="Arimo"/>
              </a:rPr>
              <a:t>Typed questions sit pending </a:t>
            </a:r>
            <a:r>
              <a:rPr lang="en-US" sz="1950">
                <a:solidFill>
                  <a:srgbClr val="6B6B70"/>
                </a:solidFill>
                <a:latin typeface="Arimo"/>
                <a:ea typeface="Arimo"/>
                <a:cs typeface="Arimo"/>
                <a:sym typeface="Arimo"/>
              </a:rPr>
              <a:t>→ surfaced exactly at the presenter's pause → answered from the HUD.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779003" y="4943075"/>
            <a:ext cx="299742" cy="2921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14141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03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0243842" y="4828775"/>
            <a:ext cx="7201291" cy="7560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2"/>
              </a:lnSpc>
            </a:pPr>
            <a:r>
              <a:rPr lang="en-US" sz="1950">
                <a:solidFill>
                  <a:srgbClr val="141416"/>
                </a:solidFill>
                <a:latin typeface="Arimo"/>
                <a:ea typeface="Arimo"/>
                <a:cs typeface="Arimo"/>
                <a:sym typeface="Arimo"/>
              </a:rPr>
              <a:t>A calm slide where nothing fires </a:t>
            </a:r>
            <a:r>
              <a:rPr lang="en-US" sz="1950">
                <a:solidFill>
                  <a:srgbClr val="6B6B70"/>
                </a:solidFill>
                <a:latin typeface="Arimo"/>
                <a:ea typeface="Arimo"/>
                <a:cs typeface="Arimo"/>
                <a:sym typeface="Arimo"/>
              </a:rPr>
              <a:t>— correct silence is the harder half of detection.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779003" y="5845178"/>
            <a:ext cx="299742" cy="2921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14141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04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0243842" y="5730878"/>
            <a:ext cx="7201291" cy="7560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2"/>
              </a:lnSpc>
            </a:pPr>
            <a:r>
              <a:rPr lang="en-US" sz="1950">
                <a:solidFill>
                  <a:srgbClr val="141416"/>
                </a:solidFill>
                <a:latin typeface="Arimo"/>
                <a:ea typeface="Arimo"/>
                <a:cs typeface="Arimo"/>
                <a:sym typeface="Arimo"/>
              </a:rPr>
              <a:t>Debrief → PPT-B </a:t>
            </a:r>
            <a:r>
              <a:rPr lang="en-US" sz="1950">
                <a:solidFill>
                  <a:srgbClr val="6B6B70"/>
                </a:solidFill>
                <a:latin typeface="Arimo"/>
                <a:ea typeface="Arimo"/>
                <a:cs typeface="Arimo"/>
                <a:sym typeface="Arimo"/>
              </a:rPr>
              <a:t>names the weakest slide and flags one question unresolved.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1028700" y="8947147"/>
            <a:ext cx="16230600" cy="9525"/>
            <a:chOff x="0" y="0"/>
            <a:chExt cx="21640800" cy="127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1640800" cy="12700"/>
            </a:xfrm>
            <a:custGeom>
              <a:avLst/>
              <a:gdLst/>
              <a:ahLst/>
              <a:cxnLst/>
              <a:rect r="r" b="b" t="t" l="l"/>
              <a:pathLst>
                <a:path h="12700" w="21640800">
                  <a:moveTo>
                    <a:pt x="0" y="0"/>
                  </a:moveTo>
                  <a:lnTo>
                    <a:pt x="21640800" y="0"/>
                  </a:lnTo>
                  <a:lnTo>
                    <a:pt x="21640800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6E5E1"/>
            </a:solidFill>
          </p:spPr>
        </p:sp>
      </p:grpSp>
      <p:sp>
        <p:nvSpPr>
          <p:cNvPr name="TextBox 24" id="24"/>
          <p:cNvSpPr txBox="true"/>
          <p:nvPr/>
        </p:nvSpPr>
        <p:spPr>
          <a:xfrm rot="0">
            <a:off x="1054103" y="9207503"/>
            <a:ext cx="9593580" cy="2921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spc="72">
                <a:solidFill>
                  <a:srgbClr val="A2A2A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Calm by design — trigger policies · cooldowns · an action budget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6260566" y="9207503"/>
            <a:ext cx="1049541" cy="2921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spc="72">
                <a:solidFill>
                  <a:srgbClr val="A2A2A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05 / 05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DAHMQworiPM</dc:identifier>
  <dcterms:modified xsi:type="dcterms:W3CDTF">2011-08-01T06:04:30Z</dcterms:modified>
  <cp:revision>1</cp:revision>
  <dc:title>AURA Demo Deck</dc:title>
</cp:coreProperties>
</file>